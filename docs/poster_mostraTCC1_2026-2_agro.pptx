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Default Extension="xlsx" ContentType="application/vnd.openxmlformats-officedocument.spreadsheetml.sheet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7" r:id="rId1"/>
  </p:sldMasterIdLst>
  <p:notesMasterIdLst>
    <p:notesMasterId r:id="rId3"/>
  </p:notesMasterIdLst>
  <p:sldIdLst>
    <p:sldId id="256" r:id="rId2"/>
  </p:sldIdLst>
  <p:sldSz cx="21383625" cy="30275213"/>
  <p:notesSz cx="9926638" cy="14355763"/>
  <p:defaultTextStyle>
    <a:defPPr>
      <a:defRPr lang="en-US"/>
    </a:defPPr>
    <a:lvl1pPr marL="0" algn="l" defTabSz="319994" rtl="0" eaLnBrk="1" latinLnBrk="0" hangingPunct="1">
      <a:defRPr sz="1260" kern="1200">
        <a:solidFill>
          <a:schemeClr val="tx1"/>
        </a:solidFill>
        <a:latin typeface="+mn-lt"/>
        <a:ea typeface="+mn-ea"/>
        <a:cs typeface="+mn-cs"/>
      </a:defRPr>
    </a:lvl1pPr>
    <a:lvl2pPr marL="319994" algn="l" defTabSz="319994" rtl="0" eaLnBrk="1" latinLnBrk="0" hangingPunct="1">
      <a:defRPr sz="1260" kern="1200">
        <a:solidFill>
          <a:schemeClr val="tx1"/>
        </a:solidFill>
        <a:latin typeface="+mn-lt"/>
        <a:ea typeface="+mn-ea"/>
        <a:cs typeface="+mn-cs"/>
      </a:defRPr>
    </a:lvl2pPr>
    <a:lvl3pPr marL="639989" algn="l" defTabSz="319994" rtl="0" eaLnBrk="1" latinLnBrk="0" hangingPunct="1">
      <a:defRPr sz="1260" kern="1200">
        <a:solidFill>
          <a:schemeClr val="tx1"/>
        </a:solidFill>
        <a:latin typeface="+mn-lt"/>
        <a:ea typeface="+mn-ea"/>
        <a:cs typeface="+mn-cs"/>
      </a:defRPr>
    </a:lvl3pPr>
    <a:lvl4pPr marL="959983" algn="l" defTabSz="319994" rtl="0" eaLnBrk="1" latinLnBrk="0" hangingPunct="1">
      <a:defRPr sz="1260" kern="1200">
        <a:solidFill>
          <a:schemeClr val="tx1"/>
        </a:solidFill>
        <a:latin typeface="+mn-lt"/>
        <a:ea typeface="+mn-ea"/>
        <a:cs typeface="+mn-cs"/>
      </a:defRPr>
    </a:lvl4pPr>
    <a:lvl5pPr marL="1279977" algn="l" defTabSz="319994" rtl="0" eaLnBrk="1" latinLnBrk="0" hangingPunct="1">
      <a:defRPr sz="1260" kern="1200">
        <a:solidFill>
          <a:schemeClr val="tx1"/>
        </a:solidFill>
        <a:latin typeface="+mn-lt"/>
        <a:ea typeface="+mn-ea"/>
        <a:cs typeface="+mn-cs"/>
      </a:defRPr>
    </a:lvl5pPr>
    <a:lvl6pPr marL="1599971" algn="l" defTabSz="319994" rtl="0" eaLnBrk="1" latinLnBrk="0" hangingPunct="1">
      <a:defRPr sz="1260" kern="1200">
        <a:solidFill>
          <a:schemeClr val="tx1"/>
        </a:solidFill>
        <a:latin typeface="+mn-lt"/>
        <a:ea typeface="+mn-ea"/>
        <a:cs typeface="+mn-cs"/>
      </a:defRPr>
    </a:lvl6pPr>
    <a:lvl7pPr marL="1919966" algn="l" defTabSz="319994" rtl="0" eaLnBrk="1" latinLnBrk="0" hangingPunct="1">
      <a:defRPr sz="1260" kern="1200">
        <a:solidFill>
          <a:schemeClr val="tx1"/>
        </a:solidFill>
        <a:latin typeface="+mn-lt"/>
        <a:ea typeface="+mn-ea"/>
        <a:cs typeface="+mn-cs"/>
      </a:defRPr>
    </a:lvl7pPr>
    <a:lvl8pPr marL="2239960" algn="l" defTabSz="319994" rtl="0" eaLnBrk="1" latinLnBrk="0" hangingPunct="1">
      <a:defRPr sz="1260" kern="1200">
        <a:solidFill>
          <a:schemeClr val="tx1"/>
        </a:solidFill>
        <a:latin typeface="+mn-lt"/>
        <a:ea typeface="+mn-ea"/>
        <a:cs typeface="+mn-cs"/>
      </a:defRPr>
    </a:lvl8pPr>
    <a:lvl9pPr marL="2559954" algn="l" defTabSz="319994" rtl="0" eaLnBrk="1" latinLnBrk="0" hangingPunct="1">
      <a:defRPr sz="126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15620"/>
    <p:restoredTop sz="94660"/>
  </p:normalViewPr>
  <p:slideViewPr>
    <p:cSldViewPr snapToGrid="0">
      <p:cViewPr varScale="1">
        <p:scale>
          <a:sx n="26" d="100"/>
          <a:sy n="26" d="100"/>
        </p:scale>
        <p:origin x="311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4301543" cy="720282"/>
          </a:xfrm>
          <a:prstGeom prst="rect">
            <a:avLst/>
          </a:prstGeom>
        </p:spPr>
        <p:txBody>
          <a:bodyPr vert="horz" lIns="132762" tIns="66381" rIns="132762" bIns="66381" rtlCol="0"/>
          <a:lstStyle>
            <a:lvl1pPr algn="l">
              <a:defRPr sz="17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5622799" y="0"/>
            <a:ext cx="4301543" cy="720282"/>
          </a:xfrm>
          <a:prstGeom prst="rect">
            <a:avLst/>
          </a:prstGeom>
        </p:spPr>
        <p:txBody>
          <a:bodyPr vert="horz" lIns="132762" tIns="66381" rIns="132762" bIns="66381" rtlCol="0"/>
          <a:lstStyle>
            <a:lvl1pPr algn="r">
              <a:defRPr sz="1700"/>
            </a:lvl1pPr>
          </a:lstStyle>
          <a:p>
            <a:fld id="{042C1FE0-21D5-4AC0-8DF2-FB7065AECAC4}" type="datetimeFigureOut">
              <a:rPr lang="pt-BR" smtClean="0"/>
              <a:t>12/08/2026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3252788" y="1795463"/>
            <a:ext cx="3421062" cy="48434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132762" tIns="66381" rIns="132762" bIns="66381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992665" y="6908710"/>
            <a:ext cx="7941310" cy="5652582"/>
          </a:xfrm>
          <a:prstGeom prst="rect">
            <a:avLst/>
          </a:prstGeom>
        </p:spPr>
        <p:txBody>
          <a:bodyPr vert="horz" lIns="132762" tIns="66381" rIns="132762" bIns="66381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1" y="13635485"/>
            <a:ext cx="4301543" cy="720280"/>
          </a:xfrm>
          <a:prstGeom prst="rect">
            <a:avLst/>
          </a:prstGeom>
        </p:spPr>
        <p:txBody>
          <a:bodyPr vert="horz" lIns="132762" tIns="66381" rIns="132762" bIns="66381" rtlCol="0" anchor="b"/>
          <a:lstStyle>
            <a:lvl1pPr algn="l">
              <a:defRPr sz="17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5622799" y="13635485"/>
            <a:ext cx="4301543" cy="720280"/>
          </a:xfrm>
          <a:prstGeom prst="rect">
            <a:avLst/>
          </a:prstGeom>
        </p:spPr>
        <p:txBody>
          <a:bodyPr vert="horz" lIns="132762" tIns="66381" rIns="132762" bIns="66381" rtlCol="0" anchor="b"/>
          <a:lstStyle>
            <a:lvl1pPr algn="r">
              <a:defRPr sz="1700"/>
            </a:lvl1pPr>
          </a:lstStyle>
          <a:p>
            <a:fld id="{13193050-6038-4332-830D-ABE4132EDFF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600975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39989" rtl="0" eaLnBrk="1" latinLnBrk="0" hangingPunct="1">
      <a:defRPr sz="840" kern="1200">
        <a:solidFill>
          <a:schemeClr val="tx1"/>
        </a:solidFill>
        <a:latin typeface="+mn-lt"/>
        <a:ea typeface="+mn-ea"/>
        <a:cs typeface="+mn-cs"/>
      </a:defRPr>
    </a:lvl1pPr>
    <a:lvl2pPr marL="319994" algn="l" defTabSz="639989" rtl="0" eaLnBrk="1" latinLnBrk="0" hangingPunct="1">
      <a:defRPr sz="840" kern="1200">
        <a:solidFill>
          <a:schemeClr val="tx1"/>
        </a:solidFill>
        <a:latin typeface="+mn-lt"/>
        <a:ea typeface="+mn-ea"/>
        <a:cs typeface="+mn-cs"/>
      </a:defRPr>
    </a:lvl2pPr>
    <a:lvl3pPr marL="639989" algn="l" defTabSz="639989" rtl="0" eaLnBrk="1" latinLnBrk="0" hangingPunct="1">
      <a:defRPr sz="840" kern="1200">
        <a:solidFill>
          <a:schemeClr val="tx1"/>
        </a:solidFill>
        <a:latin typeface="+mn-lt"/>
        <a:ea typeface="+mn-ea"/>
        <a:cs typeface="+mn-cs"/>
      </a:defRPr>
    </a:lvl3pPr>
    <a:lvl4pPr marL="959983" algn="l" defTabSz="639989" rtl="0" eaLnBrk="1" latinLnBrk="0" hangingPunct="1">
      <a:defRPr sz="840" kern="1200">
        <a:solidFill>
          <a:schemeClr val="tx1"/>
        </a:solidFill>
        <a:latin typeface="+mn-lt"/>
        <a:ea typeface="+mn-ea"/>
        <a:cs typeface="+mn-cs"/>
      </a:defRPr>
    </a:lvl4pPr>
    <a:lvl5pPr marL="1279977" algn="l" defTabSz="639989" rtl="0" eaLnBrk="1" latinLnBrk="0" hangingPunct="1">
      <a:defRPr sz="840" kern="1200">
        <a:solidFill>
          <a:schemeClr val="tx1"/>
        </a:solidFill>
        <a:latin typeface="+mn-lt"/>
        <a:ea typeface="+mn-ea"/>
        <a:cs typeface="+mn-cs"/>
      </a:defRPr>
    </a:lvl5pPr>
    <a:lvl6pPr marL="1599971" algn="l" defTabSz="639989" rtl="0" eaLnBrk="1" latinLnBrk="0" hangingPunct="1">
      <a:defRPr sz="840" kern="1200">
        <a:solidFill>
          <a:schemeClr val="tx1"/>
        </a:solidFill>
        <a:latin typeface="+mn-lt"/>
        <a:ea typeface="+mn-ea"/>
        <a:cs typeface="+mn-cs"/>
      </a:defRPr>
    </a:lvl6pPr>
    <a:lvl7pPr marL="1919966" algn="l" defTabSz="639989" rtl="0" eaLnBrk="1" latinLnBrk="0" hangingPunct="1">
      <a:defRPr sz="840" kern="1200">
        <a:solidFill>
          <a:schemeClr val="tx1"/>
        </a:solidFill>
        <a:latin typeface="+mn-lt"/>
        <a:ea typeface="+mn-ea"/>
        <a:cs typeface="+mn-cs"/>
      </a:defRPr>
    </a:lvl7pPr>
    <a:lvl8pPr marL="2239960" algn="l" defTabSz="639989" rtl="0" eaLnBrk="1" latinLnBrk="0" hangingPunct="1">
      <a:defRPr sz="840" kern="1200">
        <a:solidFill>
          <a:schemeClr val="tx1"/>
        </a:solidFill>
        <a:latin typeface="+mn-lt"/>
        <a:ea typeface="+mn-ea"/>
        <a:cs typeface="+mn-cs"/>
      </a:defRPr>
    </a:lvl8pPr>
    <a:lvl9pPr marL="2559954" algn="l" defTabSz="639989" rtl="0" eaLnBrk="1" latinLnBrk="0" hangingPunct="1">
      <a:defRPr sz="84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252788" y="1795463"/>
            <a:ext cx="3421062" cy="4843462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Fontes do pôster: docs/projeto_tcc_agro_rev2_literatura.docx; docs/revisao_literatura_fontes.json; reports/tables/walk_forward/evaluation_v2/backtest_cobertura.csv e backtest_resumo.json. Consulta em 19/10/2026.
Figura 1: exposição proposta de sete componentes igualmente ponderados; aproximação de preços em BRL, não P&amp;L operacional de contratos com margem, colateral e custos.
Figura 2: desenho metodológico; HMM e transformações ajustados no treino, regime filtrado na origem, calibração anterior ao teste. O desenho não certifica horários de publicação ou treinamento de arquivos antigos.
Figura 3: estatística descritiva de previsões congeladas, sem novo treinamento. Período 01/10/2012–27/03/2024; total 2.717 alvos, 289 classificados no estado de maior volatilidade de cada janela. HMM-LSTM: 142/2717 e 23/289; LSTM: 142/2717 e 22/289; referência de média zero + FHS-EWMA: 138/2717 e 19/289. Referência nominal de violações: 5%. Os grupos são aninhados, não independentes.
Procedência e ajustes das séries futuras, horários de disponibilidade e benchmark MS-GARCH permanecem pendentes. As taxas não demonstram superioridade, equivalência ou validação final de H1–H3. A calibração por regime da HMM-LSTM difere da calibração global da LSTM; a comparação envolve o pipeline completo. Não foram geradas trajetórias nulas para p-valores de ES.
Hamilton (1989): https://doi.org/10.2307/1912559
Hochreiter e Schmidhuber (1997): https://doi.org/10.1162/neco.1997.9.8.1735
Acerbi e Tasche (2002): https://doi.org/10.1016/S0378-4266(02)00283-2
Ardia et al. (2019): https://doi.org/10.18637/jss.v091.i04
Gal e Ghahramani (2016), incerteza do dropout: https://proceedings.mlr.press/v48/gal16.html
O ODS 9 é apresentado como alinhamento esperado de pesquisa aplicada, sem demonstração de impacto socioambiental. Identidade visual e arte ODS 9 preservadas do template fornecido pelo usuário.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193050-6038-4332-830D-ABE4132EDFF6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707227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3772" y="4954765"/>
            <a:ext cx="18176081" cy="10540259"/>
          </a:xfrm>
        </p:spPr>
        <p:txBody>
          <a:bodyPr anchor="b"/>
          <a:lstStyle>
            <a:lvl1pPr algn="ctr">
              <a:defRPr sz="14031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2953" y="15901497"/>
            <a:ext cx="16037719" cy="730949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5612"/>
            </a:lvl1pPr>
            <a:lvl2pPr marL="1069162" indent="0" algn="ctr">
              <a:buNone/>
              <a:defRPr sz="4677"/>
            </a:lvl2pPr>
            <a:lvl3pPr marL="2138324" indent="0" algn="ctr">
              <a:buNone/>
              <a:defRPr sz="4209"/>
            </a:lvl3pPr>
            <a:lvl4pPr marL="3207487" indent="0" algn="ctr">
              <a:buNone/>
              <a:defRPr sz="3742"/>
            </a:lvl4pPr>
            <a:lvl5pPr marL="4276649" indent="0" algn="ctr">
              <a:buNone/>
              <a:defRPr sz="3742"/>
            </a:lvl5pPr>
            <a:lvl6pPr marL="5345811" indent="0" algn="ctr">
              <a:buNone/>
              <a:defRPr sz="3742"/>
            </a:lvl6pPr>
            <a:lvl7pPr marL="6414973" indent="0" algn="ctr">
              <a:buNone/>
              <a:defRPr sz="3742"/>
            </a:lvl7pPr>
            <a:lvl8pPr marL="7484135" indent="0" algn="ctr">
              <a:buNone/>
              <a:defRPr sz="3742"/>
            </a:lvl8pPr>
            <a:lvl9pPr marL="8553298" indent="0" algn="ctr">
              <a:buNone/>
              <a:defRPr sz="3742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470124" y="28060644"/>
            <a:ext cx="4811316" cy="1611875"/>
          </a:xfrm>
          <a:prstGeom prst="rect">
            <a:avLst/>
          </a:prstGeom>
        </p:spPr>
        <p:txBody>
          <a:bodyPr/>
          <a:lstStyle/>
          <a:p>
            <a:fld id="{AC7A57BE-2FBC-426B-86CC-DE7A0BA1C705}" type="datetimeFigureOut">
              <a:rPr lang="pt-BR" smtClean="0"/>
              <a:t>12/08/2026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083326" y="28060644"/>
            <a:ext cx="7216973" cy="161187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5102185" y="28060644"/>
            <a:ext cx="4811316" cy="1611875"/>
          </a:xfrm>
          <a:prstGeom prst="rect">
            <a:avLst/>
          </a:prstGeom>
        </p:spPr>
        <p:txBody>
          <a:bodyPr/>
          <a:lstStyle/>
          <a:p>
            <a:fld id="{1A491B5E-3ED2-430B-AF8F-FD066B69528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267916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70124" y="1611882"/>
            <a:ext cx="18443377" cy="58518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dirty="0"/>
              <a:t>Clique para editar o título Mestre</a:t>
            </a:r>
            <a:endParaRPr lang="en-US" dirty="0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53346127-51CB-339B-6A94-E4C1E99F4C30}"/>
              </a:ext>
            </a:extLst>
          </p:cNvPr>
          <p:cNvSpPr/>
          <p:nvPr userDrawn="1"/>
        </p:nvSpPr>
        <p:spPr>
          <a:xfrm>
            <a:off x="0" y="1"/>
            <a:ext cx="21383625" cy="2097216"/>
          </a:xfrm>
          <a:prstGeom prst="rect">
            <a:avLst/>
          </a:prstGeom>
          <a:gradFill>
            <a:gsLst>
              <a:gs pos="34000">
                <a:srgbClr val="C00000"/>
              </a:gs>
              <a:gs pos="100000">
                <a:srgbClr val="FF0000"/>
              </a:gs>
              <a:gs pos="33000">
                <a:schemeClr val="bg1">
                  <a:lumMod val="9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880"/>
          </a:p>
        </p:txBody>
      </p:sp>
      <p:sp>
        <p:nvSpPr>
          <p:cNvPr id="8" name="Forma Livre: Forma 7">
            <a:extLst>
              <a:ext uri="{FF2B5EF4-FFF2-40B4-BE49-F238E27FC236}">
                <a16:creationId xmlns:a16="http://schemas.microsoft.com/office/drawing/2014/main" id="{4C6E3FB4-7B91-ABBA-1E51-763934B2C976}"/>
              </a:ext>
            </a:extLst>
          </p:cNvPr>
          <p:cNvSpPr/>
          <p:nvPr userDrawn="1"/>
        </p:nvSpPr>
        <p:spPr>
          <a:xfrm>
            <a:off x="5311895" y="0"/>
            <a:ext cx="16073143" cy="2096942"/>
          </a:xfrm>
          <a:custGeom>
            <a:avLst/>
            <a:gdLst>
              <a:gd name="connsiteX0" fmla="*/ 3517627 w 23001181"/>
              <a:gd name="connsiteY0" fmla="*/ 0 h 3046988"/>
              <a:gd name="connsiteX1" fmla="*/ 23001181 w 23001181"/>
              <a:gd name="connsiteY1" fmla="*/ 0 h 3046988"/>
              <a:gd name="connsiteX2" fmla="*/ 23001181 w 23001181"/>
              <a:gd name="connsiteY2" fmla="*/ 3046988 h 3046988"/>
              <a:gd name="connsiteX3" fmla="*/ 0 w 23001181"/>
              <a:gd name="connsiteY3" fmla="*/ 3046988 h 30469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001181" h="3046988">
                <a:moveTo>
                  <a:pt x="3517627" y="0"/>
                </a:moveTo>
                <a:lnTo>
                  <a:pt x="23001181" y="0"/>
                </a:lnTo>
                <a:lnTo>
                  <a:pt x="23001181" y="3046988"/>
                </a:lnTo>
                <a:lnTo>
                  <a:pt x="0" y="3046988"/>
                </a:lnTo>
                <a:close/>
              </a:path>
            </a:pathLst>
          </a:cu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pt-BR" sz="880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51D9A696-5F85-4316-A3C2-8339D3D0A56B}"/>
              </a:ext>
            </a:extLst>
          </p:cNvPr>
          <p:cNvSpPr/>
          <p:nvPr userDrawn="1"/>
        </p:nvSpPr>
        <p:spPr>
          <a:xfrm>
            <a:off x="0" y="29628311"/>
            <a:ext cx="21383625" cy="64690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880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5B6D9DB0-5191-AC2F-5727-6149657039E6}"/>
              </a:ext>
            </a:extLst>
          </p:cNvPr>
          <p:cNvSpPr txBox="1"/>
          <p:nvPr userDrawn="1"/>
        </p:nvSpPr>
        <p:spPr>
          <a:xfrm>
            <a:off x="8295536" y="629966"/>
            <a:ext cx="10795136" cy="11387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pt-BR" sz="2800" b="1" dirty="0">
                <a:solidFill>
                  <a:schemeClr val="bg1"/>
                </a:solidFill>
                <a:latin typeface="Segoe UI Variable Display" pitchFamily="2" charset="0"/>
              </a:rPr>
              <a:t>IX M</a:t>
            </a:r>
            <a:r>
              <a:rPr lang="pt-BR" sz="2400" b="1" dirty="0">
                <a:solidFill>
                  <a:schemeClr val="bg1"/>
                </a:solidFill>
                <a:latin typeface="Segoe UI Variable Display" pitchFamily="2" charset="0"/>
              </a:rPr>
              <a:t>OSTRA DE </a:t>
            </a:r>
            <a:r>
              <a:rPr lang="pt-BR" sz="2800" b="1" dirty="0">
                <a:solidFill>
                  <a:schemeClr val="bg1"/>
                </a:solidFill>
                <a:latin typeface="Segoe UI Variable Display" pitchFamily="2" charset="0"/>
              </a:rPr>
              <a:t>T</a:t>
            </a:r>
            <a:r>
              <a:rPr lang="pt-BR" sz="2400" b="1" dirty="0">
                <a:solidFill>
                  <a:schemeClr val="bg1"/>
                </a:solidFill>
                <a:latin typeface="Segoe UI Variable Display" pitchFamily="2" charset="0"/>
              </a:rPr>
              <a:t>RABALHOS DE </a:t>
            </a:r>
            <a:r>
              <a:rPr lang="pt-BR" sz="2800" b="1" dirty="0">
                <a:solidFill>
                  <a:schemeClr val="bg1"/>
                </a:solidFill>
                <a:latin typeface="Segoe UI Variable Display" pitchFamily="2" charset="0"/>
              </a:rPr>
              <a:t>C</a:t>
            </a:r>
            <a:r>
              <a:rPr lang="pt-BR" sz="2400" b="1" dirty="0">
                <a:solidFill>
                  <a:schemeClr val="bg1"/>
                </a:solidFill>
                <a:latin typeface="Segoe UI Variable Display" pitchFamily="2" charset="0"/>
              </a:rPr>
              <a:t>ONCLUSÃO DE </a:t>
            </a:r>
            <a:r>
              <a:rPr lang="pt-BR" sz="2800" b="1" dirty="0">
                <a:solidFill>
                  <a:schemeClr val="bg1"/>
                </a:solidFill>
                <a:latin typeface="Segoe UI Variable Display" pitchFamily="2" charset="0"/>
              </a:rPr>
              <a:t>C</a:t>
            </a:r>
            <a:r>
              <a:rPr lang="pt-BR" sz="2400" b="1" dirty="0">
                <a:solidFill>
                  <a:schemeClr val="bg1"/>
                </a:solidFill>
                <a:latin typeface="Segoe UI Variable Display" pitchFamily="2" charset="0"/>
              </a:rPr>
              <a:t>URSO (TCC I) – 2026/2</a:t>
            </a:r>
          </a:p>
          <a:p>
            <a:pPr algn="r"/>
            <a:r>
              <a:rPr lang="pt-BR" sz="4000" b="1" dirty="0">
                <a:solidFill>
                  <a:schemeClr val="bg1"/>
                </a:solidFill>
                <a:latin typeface="Segoe UI Variable Display" pitchFamily="2" charset="0"/>
              </a:rPr>
              <a:t>ESCOLA DE ENGENHARIA -  EE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7EBFF802-7DC9-6ADF-5A39-E72F22522F51}"/>
              </a:ext>
            </a:extLst>
          </p:cNvPr>
          <p:cNvSpPr/>
          <p:nvPr userDrawn="1"/>
        </p:nvSpPr>
        <p:spPr>
          <a:xfrm>
            <a:off x="159745" y="6747123"/>
            <a:ext cx="10368894" cy="648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880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62E11DB5-299A-F590-9239-E347D0020F23}"/>
              </a:ext>
            </a:extLst>
          </p:cNvPr>
          <p:cNvSpPr txBox="1"/>
          <p:nvPr userDrawn="1"/>
        </p:nvSpPr>
        <p:spPr>
          <a:xfrm>
            <a:off x="386909" y="6776897"/>
            <a:ext cx="3226524" cy="5655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99364" indent="-399364">
              <a:buFont typeface="Arial" panose="020B0604020202020204" pitchFamily="34" charset="0"/>
              <a:buChar char="•"/>
            </a:pPr>
            <a:r>
              <a:rPr lang="pt-BR" sz="3075" b="1" dirty="0">
                <a:solidFill>
                  <a:schemeClr val="bg1"/>
                </a:solidFill>
                <a:latin typeface="Segoe UI Variable Display" pitchFamily="2" charset="0"/>
              </a:rPr>
              <a:t>INTRODUÇÃO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2DBCFF13-63F0-39DD-CF04-AD44E46E0405}"/>
              </a:ext>
            </a:extLst>
          </p:cNvPr>
          <p:cNvSpPr/>
          <p:nvPr userDrawn="1"/>
        </p:nvSpPr>
        <p:spPr>
          <a:xfrm>
            <a:off x="159745" y="17471729"/>
            <a:ext cx="10368894" cy="648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880" dirty="0"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AF0DB45D-AB5F-6456-2692-564EFF1D634A}"/>
              </a:ext>
            </a:extLst>
          </p:cNvPr>
          <p:cNvSpPr/>
          <p:nvPr userDrawn="1"/>
        </p:nvSpPr>
        <p:spPr>
          <a:xfrm>
            <a:off x="159745" y="22641293"/>
            <a:ext cx="10368894" cy="648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880"/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BE0CEABB-55DB-B3C1-D571-2FFCE712904F}"/>
              </a:ext>
            </a:extLst>
          </p:cNvPr>
          <p:cNvSpPr txBox="1"/>
          <p:nvPr userDrawn="1"/>
        </p:nvSpPr>
        <p:spPr>
          <a:xfrm>
            <a:off x="386909" y="22661997"/>
            <a:ext cx="2644635" cy="5655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99364" indent="-399364">
              <a:buFont typeface="Arial" panose="020B0604020202020204" pitchFamily="34" charset="0"/>
              <a:buChar char="•"/>
            </a:pPr>
            <a:r>
              <a:rPr lang="pt-BR" sz="3075" b="1" dirty="0">
                <a:solidFill>
                  <a:schemeClr val="bg1"/>
                </a:solidFill>
                <a:latin typeface="Segoe UI Variable Display" pitchFamily="2" charset="0"/>
              </a:rPr>
              <a:t>IMPACTOS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5FFFBE26-11DB-3553-B420-92DE3506D60F}"/>
              </a:ext>
            </a:extLst>
          </p:cNvPr>
          <p:cNvSpPr/>
          <p:nvPr userDrawn="1"/>
        </p:nvSpPr>
        <p:spPr>
          <a:xfrm>
            <a:off x="10854986" y="6728058"/>
            <a:ext cx="10368894" cy="648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880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F4111EE2-6DC7-F347-2FD6-B2C7F598085A}"/>
              </a:ext>
            </a:extLst>
          </p:cNvPr>
          <p:cNvSpPr txBox="1"/>
          <p:nvPr userDrawn="1"/>
        </p:nvSpPr>
        <p:spPr>
          <a:xfrm>
            <a:off x="11082151" y="6781894"/>
            <a:ext cx="3457357" cy="5655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99364" indent="-399364">
              <a:buFont typeface="Arial" panose="020B0604020202020204" pitchFamily="34" charset="0"/>
              <a:buChar char="•"/>
            </a:pPr>
            <a:r>
              <a:rPr lang="pt-BR" sz="3075" b="1" dirty="0">
                <a:solidFill>
                  <a:schemeClr val="bg1"/>
                </a:solidFill>
                <a:latin typeface="Segoe UI Variable Display" pitchFamily="2" charset="0"/>
              </a:rPr>
              <a:t>METODOLOGIA</a:t>
            </a: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B03BE709-48A9-4CF2-201B-231732F16B49}"/>
              </a:ext>
            </a:extLst>
          </p:cNvPr>
          <p:cNvSpPr/>
          <p:nvPr userDrawn="1"/>
        </p:nvSpPr>
        <p:spPr>
          <a:xfrm>
            <a:off x="10854986" y="17480658"/>
            <a:ext cx="10368894" cy="648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880"/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6EAFBB98-9FA1-621D-2334-037551E53A75}"/>
              </a:ext>
            </a:extLst>
          </p:cNvPr>
          <p:cNvSpPr txBox="1"/>
          <p:nvPr userDrawn="1"/>
        </p:nvSpPr>
        <p:spPr>
          <a:xfrm>
            <a:off x="11082151" y="17510430"/>
            <a:ext cx="7416774" cy="7812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99364" indent="-399364">
              <a:buFont typeface="Arial" panose="020B0604020202020204" pitchFamily="34" charset="0"/>
              <a:buChar char="•"/>
            </a:pPr>
            <a:r>
              <a:rPr lang="pt-BR" sz="3075" b="1" dirty="0">
                <a:solidFill>
                  <a:schemeClr val="bg1"/>
                </a:solidFill>
                <a:latin typeface="Segoe UI Variable Display" pitchFamily="2" charset="0"/>
              </a:rPr>
              <a:t>RESULTADOS PRÉVIOS / ESPERADOS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231ED8E4-95E4-EAB2-F6C4-60D22AE932E3}"/>
              </a:ext>
            </a:extLst>
          </p:cNvPr>
          <p:cNvSpPr txBox="1"/>
          <p:nvPr userDrawn="1"/>
        </p:nvSpPr>
        <p:spPr>
          <a:xfrm>
            <a:off x="11082150" y="22706409"/>
            <a:ext cx="5243102" cy="5655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99364" indent="-399364">
              <a:buFont typeface="Arial" panose="020B0604020202020204" pitchFamily="34" charset="0"/>
              <a:buChar char="•"/>
            </a:pPr>
            <a:r>
              <a:rPr lang="pt-BR" sz="3075" b="1">
                <a:solidFill>
                  <a:schemeClr val="bg1"/>
                </a:solidFill>
                <a:latin typeface="Segoe UI Variable Display" pitchFamily="2" charset="0"/>
              </a:rPr>
              <a:t>CONSIDERAÇÕES FINAIS</a:t>
            </a:r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9D027E6B-8489-0D33-CFD0-886F5DBEDDD3}"/>
              </a:ext>
            </a:extLst>
          </p:cNvPr>
          <p:cNvSpPr/>
          <p:nvPr userDrawn="1"/>
        </p:nvSpPr>
        <p:spPr>
          <a:xfrm>
            <a:off x="11014731" y="25690441"/>
            <a:ext cx="10368894" cy="648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880"/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EA982B3A-2A18-2539-E0B5-0B91DD8E3BCD}"/>
              </a:ext>
            </a:extLst>
          </p:cNvPr>
          <p:cNvSpPr txBox="1"/>
          <p:nvPr userDrawn="1"/>
        </p:nvSpPr>
        <p:spPr>
          <a:xfrm>
            <a:off x="11204188" y="25690166"/>
            <a:ext cx="5440272" cy="5655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99364" indent="-399364">
              <a:buFont typeface="Arial" panose="020B0604020202020204" pitchFamily="34" charset="0"/>
              <a:buChar char="•"/>
            </a:pPr>
            <a:r>
              <a:rPr lang="pt-BR" sz="3075" b="1" dirty="0">
                <a:solidFill>
                  <a:schemeClr val="bg1"/>
                </a:solidFill>
                <a:latin typeface="Segoe UI Variable Display" pitchFamily="2" charset="0"/>
              </a:rPr>
              <a:t>PRINCIPAIS REFERÊNCIAS</a:t>
            </a:r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30DB3E67-5B67-089C-9769-A0965EB65519}"/>
              </a:ext>
            </a:extLst>
          </p:cNvPr>
          <p:cNvSpPr/>
          <p:nvPr userDrawn="1"/>
        </p:nvSpPr>
        <p:spPr>
          <a:xfrm>
            <a:off x="159745" y="7423799"/>
            <a:ext cx="10368894" cy="765997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5031" dirty="0"/>
          </a:p>
        </p:txBody>
      </p:sp>
      <p:pic>
        <p:nvPicPr>
          <p:cNvPr id="30" name="Gráfico 29" descr="Lâmpada e engrenagem com preenchimento sólido">
            <a:extLst>
              <a:ext uri="{FF2B5EF4-FFF2-40B4-BE49-F238E27FC236}">
                <a16:creationId xmlns:a16="http://schemas.microsoft.com/office/drawing/2014/main" id="{05B1EDAF-FFF5-3483-6C3B-C11F77202E5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9975341" y="106875"/>
            <a:ext cx="1195372" cy="1198807"/>
          </a:xfrm>
          <a:prstGeom prst="rect">
            <a:avLst/>
          </a:prstGeom>
        </p:spPr>
      </p:pic>
      <p:pic>
        <p:nvPicPr>
          <p:cNvPr id="31" name="Gráfico 30" descr="Blockchain com preenchimento sólido">
            <a:extLst>
              <a:ext uri="{FF2B5EF4-FFF2-40B4-BE49-F238E27FC236}">
                <a16:creationId xmlns:a16="http://schemas.microsoft.com/office/drawing/2014/main" id="{D04BFDA8-651C-90C2-C0F3-A4978567EF14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9302055" y="674351"/>
            <a:ext cx="1195372" cy="1198807"/>
          </a:xfrm>
          <a:prstGeom prst="rect">
            <a:avLst/>
          </a:prstGeom>
        </p:spPr>
      </p:pic>
      <p:grpSp>
        <p:nvGrpSpPr>
          <p:cNvPr id="32" name="Agrupar 31">
            <a:extLst>
              <a:ext uri="{FF2B5EF4-FFF2-40B4-BE49-F238E27FC236}">
                <a16:creationId xmlns:a16="http://schemas.microsoft.com/office/drawing/2014/main" id="{F0C43636-3EF6-15FE-1E15-E41FBE5DA0E4}"/>
              </a:ext>
            </a:extLst>
          </p:cNvPr>
          <p:cNvGrpSpPr/>
          <p:nvPr userDrawn="1"/>
        </p:nvGrpSpPr>
        <p:grpSpPr>
          <a:xfrm>
            <a:off x="20339612" y="1176402"/>
            <a:ext cx="916216" cy="750035"/>
            <a:chOff x="16971436" y="4389040"/>
            <a:chExt cx="1512661" cy="1234752"/>
          </a:xfrm>
        </p:grpSpPr>
        <p:sp>
          <p:nvSpPr>
            <p:cNvPr id="33" name="CaixaDeTexto 32">
              <a:extLst>
                <a:ext uri="{FF2B5EF4-FFF2-40B4-BE49-F238E27FC236}">
                  <a16:creationId xmlns:a16="http://schemas.microsoft.com/office/drawing/2014/main" id="{BE39FCE3-CD9A-83AC-CCEE-1D33ACC834C5}"/>
                </a:ext>
              </a:extLst>
            </p:cNvPr>
            <p:cNvSpPr txBox="1"/>
            <p:nvPr userDrawn="1"/>
          </p:nvSpPr>
          <p:spPr>
            <a:xfrm>
              <a:off x="18025715" y="4707795"/>
              <a:ext cx="458382" cy="4706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pt-BR" sz="1258" b="1">
                  <a:solidFill>
                    <a:srgbClr val="FFC000"/>
                  </a:solidFill>
                  <a:latin typeface="Segoe UI Variable Display" pitchFamily="2" charset="0"/>
                </a:rPr>
                <a:t>2</a:t>
              </a:r>
            </a:p>
          </p:txBody>
        </p:sp>
        <p:sp>
          <p:nvSpPr>
            <p:cNvPr id="34" name="CaixaDeTexto 33">
              <a:extLst>
                <a:ext uri="{FF2B5EF4-FFF2-40B4-BE49-F238E27FC236}">
                  <a16:creationId xmlns:a16="http://schemas.microsoft.com/office/drawing/2014/main" id="{0CB0D1DA-1936-09C3-DA8C-DC2C2271DFF6}"/>
                </a:ext>
              </a:extLst>
            </p:cNvPr>
            <p:cNvSpPr txBox="1"/>
            <p:nvPr userDrawn="1"/>
          </p:nvSpPr>
          <p:spPr>
            <a:xfrm>
              <a:off x="17391924" y="4389040"/>
              <a:ext cx="680689" cy="9310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pt-BR" sz="3075" b="1">
                  <a:solidFill>
                    <a:srgbClr val="FFC000"/>
                  </a:solidFill>
                  <a:latin typeface="Segoe UI Variable Display" pitchFamily="2" charset="0"/>
                </a:rPr>
                <a:t>T</a:t>
              </a:r>
            </a:p>
          </p:txBody>
        </p:sp>
        <p:sp>
          <p:nvSpPr>
            <p:cNvPr id="35" name="CaixaDeTexto 34">
              <a:extLst>
                <a:ext uri="{FF2B5EF4-FFF2-40B4-BE49-F238E27FC236}">
                  <a16:creationId xmlns:a16="http://schemas.microsoft.com/office/drawing/2014/main" id="{D914BCFC-2298-E943-BA16-6D8A0AE14D4D}"/>
                </a:ext>
              </a:extLst>
            </p:cNvPr>
            <p:cNvSpPr txBox="1"/>
            <p:nvPr userDrawn="1"/>
          </p:nvSpPr>
          <p:spPr>
            <a:xfrm>
              <a:off x="17622430" y="4763702"/>
              <a:ext cx="728326" cy="86009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pt-BR" sz="2795" b="1">
                  <a:solidFill>
                    <a:srgbClr val="FFC000"/>
                  </a:solidFill>
                  <a:latin typeface="Segoe UI Variable Display" pitchFamily="2" charset="0"/>
                </a:rPr>
                <a:t>C</a:t>
              </a:r>
            </a:p>
          </p:txBody>
        </p:sp>
        <p:sp>
          <p:nvSpPr>
            <p:cNvPr id="36" name="CaixaDeTexto 35">
              <a:extLst>
                <a:ext uri="{FF2B5EF4-FFF2-40B4-BE49-F238E27FC236}">
                  <a16:creationId xmlns:a16="http://schemas.microsoft.com/office/drawing/2014/main" id="{19D1CA56-2D10-15E7-C127-5325FCF443E9}"/>
                </a:ext>
              </a:extLst>
            </p:cNvPr>
            <p:cNvSpPr txBox="1"/>
            <p:nvPr userDrawn="1"/>
          </p:nvSpPr>
          <p:spPr>
            <a:xfrm>
              <a:off x="16971436" y="4636873"/>
              <a:ext cx="865949" cy="86009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pt-BR" sz="2795" b="1">
                  <a:solidFill>
                    <a:srgbClr val="FFC000"/>
                  </a:solidFill>
                  <a:latin typeface="Segoe UI Variable Display" pitchFamily="2" charset="0"/>
                </a:rPr>
                <a:t>M</a:t>
              </a:r>
            </a:p>
          </p:txBody>
        </p:sp>
      </p:grpSp>
      <p:pic>
        <p:nvPicPr>
          <p:cNvPr id="38" name="Imagem 37" descr="Texto&#10;&#10;Descrição gerada automaticamente">
            <a:extLst>
              <a:ext uri="{FF2B5EF4-FFF2-40B4-BE49-F238E27FC236}">
                <a16:creationId xmlns:a16="http://schemas.microsoft.com/office/drawing/2014/main" id="{1BD311AD-EF0A-2B97-C877-458693C8B55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2420" b="11272"/>
          <a:stretch/>
        </p:blipFill>
        <p:spPr>
          <a:xfrm>
            <a:off x="79802" y="-53839"/>
            <a:ext cx="5625714" cy="1990067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A451865D-4B66-6948-9834-A0060BE2631D}"/>
              </a:ext>
            </a:extLst>
          </p:cNvPr>
          <p:cNvSpPr txBox="1"/>
          <p:nvPr userDrawn="1"/>
        </p:nvSpPr>
        <p:spPr>
          <a:xfrm>
            <a:off x="539309" y="17520512"/>
            <a:ext cx="2691121" cy="5655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99364" indent="-399364">
              <a:buFont typeface="Arial" panose="020B0604020202020204" pitchFamily="34" charset="0"/>
              <a:buChar char="•"/>
            </a:pPr>
            <a:r>
              <a:rPr lang="pt-BR" sz="3075" b="1" dirty="0">
                <a:solidFill>
                  <a:schemeClr val="bg1"/>
                </a:solidFill>
                <a:latin typeface="Segoe UI Variable Display" pitchFamily="2" charset="0"/>
              </a:rPr>
              <a:t>OBJETIVOS</a:t>
            </a:r>
          </a:p>
        </p:txBody>
      </p:sp>
    </p:spTree>
    <p:extLst>
      <p:ext uri="{BB962C8B-B14F-4D97-AF65-F5344CB8AC3E}">
        <p14:creationId xmlns:p14="http://schemas.microsoft.com/office/powerpoint/2010/main" val="40627002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</p:sldLayoutIdLst>
  <p:txStyles>
    <p:titleStyle>
      <a:lvl1pPr algn="l" defTabSz="2138324" rtl="0" eaLnBrk="1" latinLnBrk="0" hangingPunct="1">
        <a:lnSpc>
          <a:spcPct val="90000"/>
        </a:lnSpc>
        <a:spcBef>
          <a:spcPct val="0"/>
        </a:spcBef>
        <a:buNone/>
        <a:defRPr sz="1028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34581" indent="-534581" algn="l" defTabSz="2138324" rtl="0" eaLnBrk="1" latinLnBrk="0" hangingPunct="1">
        <a:lnSpc>
          <a:spcPct val="90000"/>
        </a:lnSpc>
        <a:spcBef>
          <a:spcPts val="2339"/>
        </a:spcBef>
        <a:buFont typeface="Arial" panose="020B0604020202020204" pitchFamily="34" charset="0"/>
        <a:buChar char="•"/>
        <a:defRPr sz="6548" kern="1200">
          <a:solidFill>
            <a:schemeClr val="tx1"/>
          </a:solidFill>
          <a:latin typeface="+mn-lt"/>
          <a:ea typeface="+mn-ea"/>
          <a:cs typeface="+mn-cs"/>
        </a:defRPr>
      </a:lvl1pPr>
      <a:lvl2pPr marL="1603743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5612" kern="1200">
          <a:solidFill>
            <a:schemeClr val="tx1"/>
          </a:solidFill>
          <a:latin typeface="+mn-lt"/>
          <a:ea typeface="+mn-ea"/>
          <a:cs typeface="+mn-cs"/>
        </a:defRPr>
      </a:lvl2pPr>
      <a:lvl3pPr marL="2672906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677" kern="1200">
          <a:solidFill>
            <a:schemeClr val="tx1"/>
          </a:solidFill>
          <a:latin typeface="+mn-lt"/>
          <a:ea typeface="+mn-ea"/>
          <a:cs typeface="+mn-cs"/>
        </a:defRPr>
      </a:lvl3pPr>
      <a:lvl4pPr marL="3742068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4pPr>
      <a:lvl5pPr marL="4811230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5pPr>
      <a:lvl6pPr marL="5880392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6pPr>
      <a:lvl7pPr marL="6949554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7pPr>
      <a:lvl8pPr marL="8018717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8pPr>
      <a:lvl9pPr marL="9087879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1pPr>
      <a:lvl2pPr marL="1069162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2pPr>
      <a:lvl3pPr marL="2138324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3pPr>
      <a:lvl4pPr marL="3207487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4pPr>
      <a:lvl5pPr marL="4276649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5pPr>
      <a:lvl6pPr marL="5345811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6pPr>
      <a:lvl7pPr marL="6414973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7pPr>
      <a:lvl8pPr marL="7484135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8pPr>
      <a:lvl9pPr marL="8553298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7" Type="http://schemas.openxmlformats.org/officeDocument/2006/relationships/image" Target="../media/image9.svg"/><Relationship Id="rId12" Type="http://schemas.openxmlformats.org/officeDocument/2006/relationships/image" Target="../media/image1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11" Type="http://schemas.openxmlformats.org/officeDocument/2006/relationships/image" Target="../media/image13.svg"/><Relationship Id="rId5" Type="http://schemas.openxmlformats.org/officeDocument/2006/relationships/image" Target="../media/image7.svg"/><Relationship Id="rId15" Type="http://schemas.openxmlformats.org/officeDocument/2006/relationships/image" Target="../media/image1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svg"/><Relationship Id="rId14" Type="http://schemas.openxmlformats.org/officeDocument/2006/relationships/image" Target="../media/image16.png"/><Relationship Id="rId50" Type="http://schemas.openxmlformats.org/officeDocument/2006/relationships/chart" Target="/ppt/slides/charts/chart1.xml"/><Relationship Id="rId51" Type="http://schemas.openxmlformats.org/officeDocument/2006/relationships/chart" Target="/ppt/slides/charts/chart2.xml"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Peso no índice</c:v>
          </c:tx>
          <c:spPr>
            <a:solidFill xmlns:a="http://schemas.openxmlformats.org/drawingml/2006/main">
              <a:srgbClr val="C00000"/>
            </a:solidFill>
          </c:spPr>
          <c:invertIfNegative val="0"/>
          <c:cat>
            <c:strRef>
              <c:f>'Chart Data'!$A$2:$A$8</c:f>
              <c:strCache>
                <c:ptCount val="7"/>
                <c:pt idx="0">
                  <c:v>SLC Agrícola</c:v>
                </c:pt>
                <c:pt idx="1">
                  <c:v>JBS</c:v>
                </c:pt>
                <c:pt idx="2">
                  <c:v>Marfrig</c:v>
                </c:pt>
                <c:pt idx="3">
                  <c:v>São Martinho</c:v>
                </c:pt>
                <c:pt idx="4">
                  <c:v>Soja (futuro)</c:v>
                </c:pt>
                <c:pt idx="5">
                  <c:v>Café (futuro)</c:v>
                </c:pt>
                <c:pt idx="6">
                  <c:v>USD/BRL</c:v>
                </c:pt>
              </c:strCache>
            </c:strRef>
          </c:cat>
          <c:val>
            <c:numRef>
              <c:f>'Chart Data'!$B$2:$B$8</c:f>
              <c:numCache>
                <c:formatCode>General</c:formatCode>
                <c:ptCount val="7"/>
                <c:pt idx="0">
                  <c:v>0.142857142857</c:v>
                </c:pt>
                <c:pt idx="1">
                  <c:v>0.142857142857</c:v>
                </c:pt>
                <c:pt idx="2">
                  <c:v>0.142857142857</c:v>
                </c:pt>
                <c:pt idx="3">
                  <c:v>0.142857142857</c:v>
                </c:pt>
                <c:pt idx="4">
                  <c:v>0.142857142857</c:v>
                </c:pt>
                <c:pt idx="5">
                  <c:v>0.142857142857</c:v>
                </c:pt>
                <c:pt idx="6">
                  <c:v>0.142857142857</c:v>
                </c:pt>
              </c:numCache>
            </c:numRef>
          </c:val>
        </c:ser>
        <c:dLbls>
          <c:numFmt formatCode="0.0%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>
                  <a:solidFill>
                    <a:srgbClr val="000000"/>
                  </a:solidFill>
                  <a:latin typeface="Segoe UI Variable Display"/>
                  <a:ea typeface="Segoe UI Variable Display"/>
                  <a:cs typeface="Segoe UI Variable Display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00000"/>
                </a:solidFill>
                <a:latin typeface="Segoe UI Variable Display"/>
                <a:ea typeface="Segoe UI Variable Display"/>
                <a:cs typeface="Segoe UI Variable Display"/>
              </a:defRPr>
            </a:pPr>
          </a:p>
        </c:txPr>
        <c:crossAx val="48672768"/>
      </c:catAx>
      <c:valAx>
        <c:axId val="48672768"/>
        <c:scaling>
          <c:orientation val="minMax"/>
          <c:max val="0.19"/>
          <c:min val="0"/>
        </c:scaling>
        <c:delete val="1"/>
        <c:axPos val="b"/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Segoe UI Variable Display"/>
                <a:ea typeface="Segoe UI Variable Display"/>
                <a:cs typeface="Segoe UI Variable Display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Total (n = 2.717)</c:v>
          </c:tx>
          <c:spPr>
            <a:solidFill xmlns:a="http://schemas.openxmlformats.org/drawingml/2006/main">
              <a:srgbClr val="666666"/>
            </a:solidFill>
          </c:spPr>
          <c:invertIfNegative val="0"/>
          <c:cat>
            <c:strRef>
              <c:f>'Chart Data'!$A$2:$A$4</c:f>
              <c:strCache>
                <c:ptCount val="3"/>
                <c:pt idx="0">
                  <c:v>HMM-LSTM</c:v>
                </c:pt>
                <c:pt idx="1">
                  <c:v>LSTM</c:v>
                </c:pt>
                <c:pt idx="2">
                  <c:v>FHS-EWMA</c:v>
                </c:pt>
              </c:strCache>
            </c:strRef>
          </c:cat>
          <c:val>
            <c:numRef>
              <c:f>'Chart Data'!$B$2:$B$4</c:f>
              <c:numCache>
                <c:formatCode>0.0%</c:formatCode>
                <c:ptCount val="3"/>
                <c:pt idx="0">
                  <c:v>0.0522635259477</c:v>
                </c:pt>
                <c:pt idx="1">
                  <c:v>0.0522635259477</c:v>
                </c:pt>
                <c:pt idx="2">
                  <c:v>0.0507913139492</c:v>
                </c:pt>
              </c:numCache>
            </c:numRef>
          </c:val>
        </c:ser>
        <c:ser>
          <c:idx val="1"/>
          <c:order val="1"/>
          <c:tx>
            <c:v>Estresse (n = 289)</c:v>
          </c:tx>
          <c:spPr>
            <a:solidFill xmlns:a="http://schemas.openxmlformats.org/drawingml/2006/main">
              <a:srgbClr val="C00000"/>
            </a:solidFill>
          </c:spPr>
          <c:invertIfNegative val="0"/>
          <c:cat>
            <c:strRef>
              <c:f>'Chart Data'!$C$2:$C$4</c:f>
              <c:strCache>
                <c:ptCount val="3"/>
                <c:pt idx="0">
                  <c:v>HMM-LSTM</c:v>
                </c:pt>
                <c:pt idx="1">
                  <c:v>LSTM</c:v>
                </c:pt>
                <c:pt idx="2">
                  <c:v>FHS-EWMA</c:v>
                </c:pt>
              </c:strCache>
            </c:strRef>
          </c:cat>
          <c:val>
            <c:numRef>
              <c:f>'Chart Data'!$D$2:$D$4</c:f>
              <c:numCache>
                <c:formatCode>0.0%</c:formatCode>
                <c:ptCount val="3"/>
                <c:pt idx="0">
                  <c:v>0.0795847750865</c:v>
                </c:pt>
                <c:pt idx="1">
                  <c:v>0.076124567474</c:v>
                </c:pt>
                <c:pt idx="2">
                  <c:v>0.0657439446367</c:v>
                </c:pt>
              </c:numCache>
            </c:numRef>
          </c:val>
        </c:ser>
        <c:ser>
          <c:idx val="2"/>
          <c:order val="2"/>
          <c:tx>
            <c:v>Nominal: 5%</c:v>
          </c:tx>
          <c:spPr>
            <a:solidFill xmlns:a="http://schemas.openxmlformats.org/drawingml/2006/main">
              <a:srgbClr val="CCCCCC"/>
            </a:solidFill>
          </c:spPr>
          <c:invertIfNegative val="0"/>
          <c:cat>
            <c:strRef>
              <c:f>'Chart Data'!$E$2:$E$4</c:f>
              <c:strCache>
                <c:ptCount val="3"/>
                <c:pt idx="0">
                  <c:v>HMM-LSTM</c:v>
                </c:pt>
                <c:pt idx="1">
                  <c:v>LSTM</c:v>
                </c:pt>
                <c:pt idx="2">
                  <c:v>FHS-EWMA</c:v>
                </c:pt>
              </c:strCache>
            </c:strRef>
          </c:cat>
          <c:val>
            <c:numRef>
              <c:f>'Chart Data'!$F$2:$F$4</c:f>
              <c:numCache>
                <c:formatCode>0.0%</c:formatCode>
                <c:ptCount val="3"/>
                <c:pt idx="0">
                  <c:v>0.05</c:v>
                </c:pt>
                <c:pt idx="1">
                  <c:v>0.05</c:v>
                </c:pt>
                <c:pt idx="2">
                  <c:v>0.05</c:v>
                </c:pt>
              </c:numCache>
            </c:numRef>
          </c:val>
        </c:ser>
        <c:dLbls>
          <c:numFmt formatCode="0.0%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>
                  <a:solidFill>
                    <a:srgbClr val="000000"/>
                  </a:solidFill>
                  <a:latin typeface="Segoe UI Variable Display"/>
                  <a:ea typeface="Segoe UI Variable Display"/>
                  <a:cs typeface="Segoe UI Variable Display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999999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000000"/>
                </a:solidFill>
                <a:latin typeface="Segoe UI Variable Display"/>
                <a:ea typeface="Segoe UI Variable Display"/>
                <a:cs typeface="Segoe UI Variable Display"/>
              </a:defRPr>
            </a:pPr>
          </a:p>
        </c:txPr>
        <c:crossAx val="48672768"/>
      </c:catAx>
      <c:valAx>
        <c:axId val="48672768"/>
        <c:scaling>
          <c:orientation val="minMax"/>
          <c:max val="0.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DDDDD"/>
              </a:solidFill>
            </a:ln>
          </c:spPr>
        </c:majorGridlines>
        <c:numFmt formatCode="0.0%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00000"/>
                </a:solidFill>
                <a:latin typeface="Segoe UI Variable Display"/>
                <a:ea typeface="Segoe UI Variable Display"/>
                <a:cs typeface="Segoe UI Variable Display"/>
              </a:defRPr>
            </a:pPr>
          </a:p>
        </c:txPr>
        <c:crossAx val="48650112"/>
        <c:crossBetween val="between"/>
        <c:majorUnit val="0.025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800">
              <a:solidFill>
                <a:srgbClr val="000000"/>
              </a:solidFill>
              <a:latin typeface="Segoe UI Variable Display"/>
              <a:ea typeface="Segoe UI Variable Display"/>
              <a:cs typeface="Segoe UI Variable Display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tângulo: Cantos Arredondados 24">
            <a:extLst>
              <a:ext uri="{FF2B5EF4-FFF2-40B4-BE49-F238E27FC236}">
                <a16:creationId xmlns:a16="http://schemas.microsoft.com/office/drawing/2014/main" id="{A667218E-B683-2676-C589-9CDE424EDFB6}"/>
              </a:ext>
            </a:extLst>
          </p:cNvPr>
          <p:cNvSpPr/>
          <p:nvPr/>
        </p:nvSpPr>
        <p:spPr>
          <a:xfrm>
            <a:off x="462054" y="2259628"/>
            <a:ext cx="20459517" cy="1778026"/>
          </a:xfrm>
          <a:prstGeom prst="roundRect">
            <a:avLst/>
          </a:prstGeom>
          <a:solidFill>
            <a:schemeClr val="bg1"/>
          </a:solidFill>
          <a:ln w="57150">
            <a:solidFill>
              <a:schemeClr val="tx1"/>
            </a:solidFill>
            <a:prstDash val="lgDashDot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88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7C138A65-2A58-B749-6646-10404407F8F7}"/>
              </a:ext>
            </a:extLst>
          </p:cNvPr>
          <p:cNvSpPr txBox="1"/>
          <p:nvPr/>
        </p:nvSpPr>
        <p:spPr>
          <a:xfrm>
            <a:off x="462054" y="2460681"/>
            <a:ext cx="20459517" cy="737574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ctr">
              <a:buNone/>
            </a:pPr>
            <a:r>
              <a:rPr lang="pt-BR" sz="4193" b="1"/>
              <a:t>VaR E EXPECTED SHORTFALL CONDICIONAIS AO REGIME DE MERCADO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4DD36874-8172-FCD7-CA95-EB456E88812B}"/>
              </a:ext>
            </a:extLst>
          </p:cNvPr>
          <p:cNvSpPr txBox="1"/>
          <p:nvPr/>
        </p:nvSpPr>
        <p:spPr>
          <a:xfrm>
            <a:off x="739346" y="4422516"/>
            <a:ext cx="20052477" cy="522451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ctr">
              <a:buNone/>
            </a:pPr>
            <a:r>
              <a:rPr lang="pt-BR" sz="2795" b="1"/>
              <a:t>Vinícius de Oliveira Bertolotti Braga (aluno) e Gustavo Rocha da Silva (orientador)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6F695D0B-9AC2-C925-52AB-E400757A35E8}"/>
              </a:ext>
            </a:extLst>
          </p:cNvPr>
          <p:cNvSpPr txBox="1"/>
          <p:nvPr/>
        </p:nvSpPr>
        <p:spPr>
          <a:xfrm>
            <a:off x="3980923" y="4977875"/>
            <a:ext cx="13474201" cy="522451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ctr">
              <a:buNone/>
            </a:pPr>
            <a:r>
              <a:rPr lang="pt-BR" sz="2795" b="0"/>
              <a:t>Engenharia de Produção, Escola de Engenharia, Universidade Presbiteriana Mackenzie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089E8357-D47E-90C2-D0C0-D30956EA8A3F}"/>
              </a:ext>
            </a:extLst>
          </p:cNvPr>
          <p:cNvSpPr txBox="1"/>
          <p:nvPr/>
        </p:nvSpPr>
        <p:spPr>
          <a:xfrm>
            <a:off x="6743807" y="5533233"/>
            <a:ext cx="7780528" cy="436402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ctr">
              <a:buNone/>
            </a:pPr>
            <a:r>
              <a:rPr lang="pt-BR" sz="2236" b="0"/>
              <a:t>Autor correspondente: Prof. Gustavo Rocha da Silva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0586AA9C-3C8B-7572-AF5F-10B9728B2035}"/>
              </a:ext>
            </a:extLst>
          </p:cNvPr>
          <p:cNvSpPr txBox="1"/>
          <p:nvPr/>
        </p:nvSpPr>
        <p:spPr>
          <a:xfrm>
            <a:off x="462053" y="7619851"/>
            <a:ext cx="9797685" cy="146860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>
              <a:spcAft>
                <a:spcPts val="500"/>
              </a:spcAft>
              <a:buNone/>
            </a:pPr>
            <a:r>
              <a:rPr lang="pt-BR" sz="2236" noProof="1" b="0">
                <a:latin typeface="system-ui"/>
              </a:rPr>
              <a:t>Ações do agronegócio, commodities e câmbio respondem a fatores distintos e podem mudar de comportamento em períodos de turbulência.</a:t>
            </a:r>
          </a:p>
          <a:p>
            <a:pPr algn="l">
              <a:spcAft>
                <a:spcPts val="500"/>
              </a:spcAft>
              <a:buNone/>
            </a:pPr>
            <a:r>
              <a:rPr lang="pt-BR" sz="2236" noProof="1" b="0">
                <a:latin typeface="system-ui"/>
              </a:rPr>
              <a:t>O VaR descreve um quantil de perdas. O Expected Shortfall (ES) resume a severidade da cauda.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94B9C929-2B2A-C964-A0D6-EF5CD3F8C743}"/>
              </a:ext>
            </a:extLst>
          </p:cNvPr>
          <p:cNvSpPr txBox="1"/>
          <p:nvPr/>
        </p:nvSpPr>
        <p:spPr>
          <a:xfrm>
            <a:off x="462053" y="18373567"/>
            <a:ext cx="9797685" cy="416787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>
              <a:lnSpc>
                <a:spcPct val="150000"/>
              </a:lnSpc>
              <a:spcAft>
                <a:spcPts val="500"/>
              </a:spcAft>
              <a:buNone/>
            </a:pPr>
            <a:r>
              <a:rPr lang="pt-BR" sz="2236" noProof="1" b="1">
                <a:latin typeface="system-ui"/>
              </a:rPr>
              <a:t>Objetivo geral</a:t>
            </a:r>
          </a:p>
          <a:p>
            <a:pPr algn="l">
              <a:lnSpc>
                <a:spcPct val="150000"/>
              </a:lnSpc>
              <a:spcAft>
                <a:spcPts val="500"/>
              </a:spcAft>
              <a:buNone/>
            </a:pPr>
            <a:r>
              <a:rPr lang="pt-BR" sz="2236" noProof="1" b="0">
                <a:latin typeface="system-ui"/>
              </a:rPr>
              <a:t>Avaliar se a informação de regime melhora a previsão de VaR e ES de uma carteira do agronegócio.</a:t>
            </a:r>
          </a:p>
          <a:p>
            <a:pPr algn="l">
              <a:lnSpc>
                <a:spcPct val="150000"/>
              </a:lnSpc>
              <a:spcAft>
                <a:spcPts val="500"/>
              </a:spcAft>
              <a:buNone/>
            </a:pPr>
            <a:r>
              <a:rPr lang="pt-BR" sz="2236" noProof="1" b="1">
                <a:latin typeface="system-ui"/>
              </a:rPr>
              <a:t>Objetivos específicos</a:t>
            </a:r>
          </a:p>
          <a:p>
            <a:pPr algn="l" marL="342900" indent="-342900">
              <a:lnSpc>
                <a:spcPct val="150000"/>
              </a:lnSpc>
              <a:spcAft>
                <a:spcPts val="500"/>
              </a:spcAft>
              <a:buFont typeface="Arial"/>
              <a:buChar char="•"/>
            </a:pPr>
            <a:r>
              <a:rPr lang="pt-BR" sz="2236" noProof="1" b="0">
                <a:latin typeface="system-ui"/>
              </a:rPr>
              <a:t>Validar séries e rolagens dos futuros.</a:t>
            </a:r>
          </a:p>
          <a:p>
            <a:pPr algn="l" marL="342900" indent="-342900">
              <a:lnSpc>
                <a:spcPct val="150000"/>
              </a:lnSpc>
              <a:spcAft>
                <a:spcPts val="500"/>
              </a:spcAft>
              <a:buFont typeface="Arial"/>
              <a:buChar char="•"/>
            </a:pPr>
            <a:r>
              <a:rPr lang="pt-BR" sz="2236" noProof="1" b="0">
                <a:latin typeface="system-ui"/>
              </a:rPr>
              <a:t>Estimar regimes e comparar LSTM com e sem essa informação.</a:t>
            </a:r>
          </a:p>
          <a:p>
            <a:pPr algn="l" marL="342900" indent="-342900">
              <a:lnSpc>
                <a:spcPct val="150000"/>
              </a:lnSpc>
              <a:spcAft>
                <a:spcPts val="500"/>
              </a:spcAft>
              <a:buFont typeface="Arial"/>
              <a:buChar char="•"/>
            </a:pPr>
            <a:r>
              <a:rPr lang="pt-BR" sz="2236" noProof="1" b="0">
                <a:latin typeface="system-ui"/>
              </a:rPr>
              <a:t>Avaliar VaR e ES e incorporar o benchmark MS-GARCH.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8908A0A8-9EEA-0453-4EDE-DAE53647A980}"/>
              </a:ext>
            </a:extLst>
          </p:cNvPr>
          <p:cNvSpPr txBox="1"/>
          <p:nvPr/>
        </p:nvSpPr>
        <p:spPr>
          <a:xfrm>
            <a:off x="11123886" y="7589423"/>
            <a:ext cx="9797685" cy="387708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 marL="342900" indent="-342900">
              <a:spcAft>
                <a:spcPts val="700"/>
              </a:spcAft>
              <a:buFont typeface="Arial"/>
              <a:buChar char="•"/>
            </a:pPr>
            <a:r>
              <a:rPr lang="pt-BR" sz="2236" noProof="1" b="0">
                <a:latin typeface="system-ui"/>
              </a:rPr>
              <a:t>Pesquisa quantitativa com séries diárias. Índice com sete componentes de pesos iguais, medido em reais.</a:t>
            </a:r>
          </a:p>
          <a:p>
            <a:pPr algn="l" marL="342900" indent="-342900">
              <a:spcAft>
                <a:spcPts val="700"/>
              </a:spcAft>
              <a:buFont typeface="Arial"/>
              <a:buChar char="•"/>
            </a:pPr>
            <a:r>
              <a:rPr lang="pt-BR" sz="2236" noProof="1" b="0">
                <a:latin typeface="system-ui"/>
              </a:rPr>
              <a:t>Janelas móveis: cinco anos de desenvolvimento, calibração separada e seis meses de teste.</a:t>
            </a:r>
          </a:p>
          <a:p>
            <a:pPr algn="l" marL="342900" indent="-342900">
              <a:spcAft>
                <a:spcPts val="700"/>
              </a:spcAft>
              <a:buFont typeface="Arial"/>
              <a:buChar char="•"/>
            </a:pPr>
            <a:r>
              <a:rPr lang="pt-BR" sz="2236" noProof="1" b="0">
                <a:latin typeface="system-ui"/>
              </a:rPr>
              <a:t>HMM filtrado na origem. LSTM com e sem regime para prever o retorno do próximo pregão.</a:t>
            </a:r>
          </a:p>
          <a:p>
            <a:pPr algn="l" marL="342900" indent="-342900">
              <a:spcAft>
                <a:spcPts val="700"/>
              </a:spcAft>
              <a:buFont typeface="Arial"/>
              <a:buChar char="•"/>
            </a:pPr>
            <a:r>
              <a:rPr lang="pt-BR" sz="2236" noProof="1" b="0">
                <a:latin typeface="system-ui"/>
              </a:rPr>
              <a:t>VaR e ES a 95% e 99% por erros de calibração e escala EWMA. MS-GARCH previsto como benchmark.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83D67654-948E-17D2-DE9A-DCA70E06F680}"/>
              </a:ext>
            </a:extLst>
          </p:cNvPr>
          <p:cNvSpPr txBox="1"/>
          <p:nvPr/>
        </p:nvSpPr>
        <p:spPr>
          <a:xfrm>
            <a:off x="11123886" y="18506141"/>
            <a:ext cx="9797685" cy="181267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 marL="342900" indent="-342900">
              <a:spcAft>
                <a:spcPts val="700"/>
              </a:spcAft>
              <a:buFont typeface="Arial"/>
              <a:buChar char="•"/>
            </a:pPr>
            <a:r>
              <a:rPr lang="pt-BR" sz="2236" noProof="1" b="0">
                <a:latin typeface="system-ui"/>
              </a:rPr>
              <a:t>Rodada exploratória: 23 janelas e 2.717 previsões por modelo, de outubro de 2012 a março de 2024.</a:t>
            </a:r>
          </a:p>
          <a:p>
            <a:pPr algn="l" marL="342900" indent="-342900">
              <a:spcAft>
                <a:spcPts val="700"/>
              </a:spcAft>
              <a:buFont typeface="Arial"/>
              <a:buChar char="•"/>
            </a:pPr>
            <a:r>
              <a:rPr lang="pt-BR" sz="2236" noProof="1" b="0">
                <a:latin typeface="system-ui"/>
              </a:rPr>
              <a:t>No VaR a 95%, as violações passam de cerca de 5% no total para 6,6% a 8,0% nos dias de estresse.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90D3019E-17F3-23A7-6742-643259F43E3E}"/>
              </a:ext>
            </a:extLst>
          </p:cNvPr>
          <p:cNvSpPr txBox="1"/>
          <p:nvPr/>
        </p:nvSpPr>
        <p:spPr>
          <a:xfrm>
            <a:off x="11123886" y="15880943"/>
            <a:ext cx="9797685" cy="1468607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just">
              <a:buNone/>
            </a:pPr>
            <a:r>
              <a:rPr lang="pt-BR" sz="2236" noProof="1" b="0">
                <a:latin typeface="system-ui"/>
              </a:rPr>
              <a:t>Seleção de variáveis, padronização e ajuste do HMM usam apenas o treinamento. O dropout avalia incerteza do modelo. A cauda de perdas exige também calibração dos erros e avaliação fora da amostra.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07B1003D-2F0E-6AFE-8893-FD7719BF7A8A}"/>
              </a:ext>
            </a:extLst>
          </p:cNvPr>
          <p:cNvSpPr txBox="1"/>
          <p:nvPr/>
        </p:nvSpPr>
        <p:spPr>
          <a:xfrm>
            <a:off x="11660358" y="10984593"/>
            <a:ext cx="9292145" cy="646331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buNone/>
            </a:pPr>
            <a:r>
              <a:rPr lang="pt-BR" sz="1800" b="0" noProof="1">
                <a:latin typeface="system-ui"/>
              </a:rPr>
              <a:t>Figura 2 – Etapas da previsão e calibração, respeitando a ordem temporal.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5D77A31D-7EC1-0B2F-4E50-98F9AB4F4F17}"/>
              </a:ext>
            </a:extLst>
          </p:cNvPr>
          <p:cNvSpPr txBox="1"/>
          <p:nvPr/>
        </p:nvSpPr>
        <p:spPr>
          <a:xfrm>
            <a:off x="462053" y="13472571"/>
            <a:ext cx="9797685" cy="1468607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just">
              <a:buNone/>
            </a:pPr>
            <a:r>
              <a:rPr lang="pt-BR" sz="2236" noProof="1" b="0">
                <a:latin typeface="system-ui"/>
              </a:rPr>
              <a:t>Modelos de regimes descrevem mudanças persistentes. Redes LSTM aprendem relações temporais. A combinação será avaliada sem presumir superioridade, distinguindo previsão do retorno e calibração do risco (Hamilton, 1989; Hochreiter; Schmidhuber, 1997).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F21CB944-9231-44AE-3460-8EE62DD255BF}"/>
              </a:ext>
            </a:extLst>
          </p:cNvPr>
          <p:cNvSpPr txBox="1"/>
          <p:nvPr/>
        </p:nvSpPr>
        <p:spPr>
          <a:xfrm>
            <a:off x="677065" y="9551832"/>
            <a:ext cx="9292145" cy="646331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buNone/>
            </a:pPr>
            <a:r>
              <a:rPr lang="pt-BR" sz="1800" b="0" noProof="1">
                <a:latin typeface="system-ui"/>
              </a:rPr>
              <a:t>Figura 1 – Composição do índice proposto: sete componentes com peso de 1/7.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2EA112E0-7EA2-7C5F-80AC-A562CF06F87D}"/>
              </a:ext>
            </a:extLst>
          </p:cNvPr>
          <p:cNvSpPr txBox="1"/>
          <p:nvPr/>
        </p:nvSpPr>
        <p:spPr>
          <a:xfrm>
            <a:off x="462054" y="3117288"/>
            <a:ext cx="20459517" cy="737574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ctr">
              <a:buNone/>
            </a:pPr>
            <a:r>
              <a:rPr lang="pt-BR" sz="4193" b="1" dirty="0"/>
              <a:t>HMM E LSTM EM UMA CARTEIRA DO AGRONEGÓCIO BRASILEIRO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E7CD80BC-2D93-6875-FC8D-0026B4052DE6}"/>
              </a:ext>
            </a:extLst>
          </p:cNvPr>
          <p:cNvSpPr txBox="1"/>
          <p:nvPr/>
        </p:nvSpPr>
        <p:spPr>
          <a:xfrm>
            <a:off x="462053" y="23802217"/>
            <a:ext cx="9797685" cy="520007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  <a:buNone/>
            </a:pPr>
            <a:r>
              <a:rPr lang="pt-BR" sz="2236" noProof="1" b="0">
                <a:latin typeface="system-ui"/>
              </a:rPr>
              <a:t>Impacto tecnológico: rotina reproduzível para comparar modelos de risco e documentar sua calibração.</a:t>
            </a:r>
          </a:p>
          <a:p>
            <a:pPr algn="l">
              <a:lnSpc>
                <a:spcPct val="150000"/>
              </a:lnSpc>
              <a:spcAft>
                <a:spcPts val="1000"/>
              </a:spcAft>
              <a:buNone/>
            </a:pPr>
            <a:r>
              <a:rPr lang="pt-BR" sz="2236" noProof="1" b="0">
                <a:latin typeface="system-ui"/>
              </a:rPr>
              <a:t>Impacto na gestão: análise transparente de exposições do agronegócio. Não constitui recomendação de investimento.</a:t>
            </a:r>
          </a:p>
          <a:p>
            <a:pPr algn="l">
              <a:lnSpc>
                <a:spcPct val="150000"/>
              </a:lnSpc>
              <a:spcAft>
                <a:spcPts val="1000"/>
              </a:spcAft>
              <a:buNone/>
            </a:pPr>
            <a:r>
              <a:rPr lang="pt-BR" sz="2236" noProof="1" b="0">
                <a:latin typeface="system-ui"/>
              </a:rPr>
              <a:t>Contribuição esperada ao ODS 9: pesquisa aplicada e inovação em métodos de análise. O estudo não mede impactos ambientais.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1EED89EB-89FE-B446-2D91-4449F29E2311}"/>
              </a:ext>
            </a:extLst>
          </p:cNvPr>
          <p:cNvSpPr txBox="1"/>
          <p:nvPr/>
        </p:nvSpPr>
        <p:spPr>
          <a:xfrm>
            <a:off x="11660358" y="15304644"/>
            <a:ext cx="9292145" cy="3693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buNone/>
            </a:pPr>
            <a:r>
              <a:rPr lang="pt-BR" sz="1800" b="0" noProof="1">
                <a:latin typeface="system-ui"/>
              </a:rPr>
              <a:t>Fonte: elaboração do autor (2026).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449FBE81-39C0-DCE5-C0FE-D6A002E29769}"/>
              </a:ext>
            </a:extLst>
          </p:cNvPr>
          <p:cNvSpPr txBox="1"/>
          <p:nvPr/>
        </p:nvSpPr>
        <p:spPr>
          <a:xfrm>
            <a:off x="677065" y="12603951"/>
            <a:ext cx="9292145" cy="3693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buNone/>
            </a:pPr>
            <a:r>
              <a:rPr lang="pt-BR" sz="1800" b="0" noProof="1">
                <a:latin typeface="system-ui"/>
              </a:rPr>
              <a:t>Fonte: elaboração do autor (2026).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A5A28B2E-25C4-54AD-12CB-B9FF705B5CC7}"/>
              </a:ext>
            </a:extLst>
          </p:cNvPr>
          <p:cNvSpPr txBox="1"/>
          <p:nvPr/>
        </p:nvSpPr>
        <p:spPr>
          <a:xfrm>
            <a:off x="386909" y="15191444"/>
            <a:ext cx="2691121" cy="5655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99364" indent="-399364">
              <a:buFont typeface="Arial" panose="020B0604020202020204" pitchFamily="34" charset="0"/>
              <a:buChar char="•"/>
            </a:pPr>
            <a:r>
              <a:rPr lang="pt-BR" sz="3075" b="1" dirty="0">
                <a:solidFill>
                  <a:schemeClr val="bg1"/>
                </a:solidFill>
                <a:latin typeface="Segoe UI Variable Display" pitchFamily="2" charset="0"/>
              </a:rPr>
              <a:t>OBJETIVOS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F752F064-461C-E740-B8C7-5AEADA83920A}"/>
              </a:ext>
            </a:extLst>
          </p:cNvPr>
          <p:cNvSpPr txBox="1"/>
          <p:nvPr/>
        </p:nvSpPr>
        <p:spPr>
          <a:xfrm>
            <a:off x="11066562" y="26562546"/>
            <a:ext cx="9797685" cy="2700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  <a:buNone/>
            </a:pPr>
            <a:r>
              <a:rPr lang="pt-BR" sz="1800" noProof="1" b="0">
                <a:latin typeface="system-ui"/>
              </a:rPr>
              <a:t>HAMILTON, J. D. A new approach to the economic analysis of nonstationary time series and the business cycle. Econometrica, v. 57, n. 2, p. 357–384, 1989.</a:t>
            </a:r>
          </a:p>
          <a:p>
            <a:pPr algn="l">
              <a:lnSpc>
                <a:spcPct val="100000"/>
              </a:lnSpc>
              <a:spcAft>
                <a:spcPts val="500"/>
              </a:spcAft>
              <a:buNone/>
            </a:pPr>
            <a:r>
              <a:rPr lang="pt-BR" sz="1800" noProof="1" b="0">
                <a:latin typeface="system-ui"/>
              </a:rPr>
              <a:t>HOCHREITER, S.; SCHMIDHUBER, J. Long short-term memory. Neural Computation, v. 9, n. 8, p. 1735–1780, 1997.</a:t>
            </a:r>
          </a:p>
          <a:p>
            <a:pPr algn="l">
              <a:lnSpc>
                <a:spcPct val="100000"/>
              </a:lnSpc>
              <a:spcAft>
                <a:spcPts val="500"/>
              </a:spcAft>
              <a:buNone/>
            </a:pPr>
            <a:r>
              <a:rPr lang="pt-BR" sz="1800" noProof="1" b="0">
                <a:latin typeface="system-ui"/>
              </a:rPr>
              <a:t>ACERBI, C.; TASCHE, D. On the coherence of expected shortfall. Journal of Banking &amp; Finance, v. 26, n. 7, p. 1487–1503, 2002.</a:t>
            </a:r>
          </a:p>
          <a:p>
            <a:pPr algn="l">
              <a:lnSpc>
                <a:spcPct val="100000"/>
              </a:lnSpc>
              <a:spcAft>
                <a:spcPts val="500"/>
              </a:spcAft>
              <a:buNone/>
            </a:pPr>
            <a:r>
              <a:rPr lang="pt-BR" sz="1800" noProof="1" b="0">
                <a:latin typeface="system-ui"/>
              </a:rPr>
              <a:t>ARDIA, D. et al. Markov-switching GARCH models in R: the MSGARCH package. Journal of Statistical Software, v. 91, n. 4, p. 1–38, 2019.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6B2D6AFE-639B-3F3B-37D3-E068C9287EC7}"/>
              </a:ext>
            </a:extLst>
          </p:cNvPr>
          <p:cNvSpPr txBox="1"/>
          <p:nvPr/>
        </p:nvSpPr>
        <p:spPr>
          <a:xfrm>
            <a:off x="11499678" y="20551602"/>
            <a:ext cx="9292145" cy="646331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buNone/>
            </a:pPr>
            <a:r>
              <a:rPr lang="pt-BR" sz="1800" b="0" noProof="1">
                <a:latin typeface="system-ui"/>
              </a:rPr>
              <a:t>Figura 3 – Violações do VaR a 95% no total e nos dias de estresse.</a:t>
            </a:r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E056AB1F-BE76-275B-2B99-BC011D7B9168}"/>
              </a:ext>
            </a:extLst>
          </p:cNvPr>
          <p:cNvSpPr txBox="1"/>
          <p:nvPr/>
        </p:nvSpPr>
        <p:spPr>
          <a:xfrm>
            <a:off x="11376654" y="24676986"/>
            <a:ext cx="9292145" cy="550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buNone/>
            </a:pPr>
            <a:r>
              <a:rPr lang="pt-BR" sz="1800" b="0" noProof="1">
                <a:latin typeface="system-ui"/>
              </a:rPr>
              <a:t>Fonte: elaboração do autor (2026). Dados e rolagens em validação. MS-GARCH pendente.</a:t>
            </a:r>
          </a:p>
        </p:txBody>
      </p:sp>
      <p:pic>
        <p:nvPicPr>
          <p:cNvPr id="23" name="Imagem 22">
            <a:extLst>
              <a:ext uri="{FF2B5EF4-FFF2-40B4-BE49-F238E27FC236}">
                <a16:creationId xmlns:a16="http://schemas.microsoft.com/office/drawing/2014/main" id="{91079F0B-486E-7178-8A74-B2643AB52F04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300000" y="27359563"/>
            <a:ext cx="2143125" cy="2143125"/>
          </a:xfrm>
          <a:prstGeom prst="rect">
            <a:avLst/>
          </a:prstGeom>
        </p:spPr>
      </p:pic>
      <p:graphicFrame>
        <p:nvGraphicFramePr>
          <p:cNvPr id="50" name="Chart">
            <a:extLst xmlns:a="http://schemas.openxmlformats.org/drawingml/2006/main">
              <a:ext uri="{FF2B5EF4-FFF2-40B4-BE49-F238E27FC236}">
                <a16:creationId xmlns:a16="http://schemas.microsoft.com/office/drawing/2014/main" id="{53FDF175-108D-4D74-B6C7-FD09712481B8}"/>
              </a:ext>
            </a:extLst>
          </p:cNvPr>
          <p:cNvGraphicFramePr/>
          <p:nvPr/>
        </p:nvGraphicFramePr>
        <p:xfrm>
          <a:off xmlns:a="http://schemas.openxmlformats.org/drawingml/2006/main" x="677037" y="10115550"/>
          <a:ext xmlns:a="http://schemas.openxmlformats.org/drawingml/2006/main" cx="9292114" cy="2333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Id50"/>
          </a:graphicData>
        </a:graphic>
      </p:graphicFrame>
      <p:graphicFrame>
        <p:nvGraphicFramePr>
          <p:cNvPr id="51" name="Chart">
            <a:extLst xmlns:a="http://schemas.openxmlformats.org/drawingml/2006/main">
              <a:ext uri="{FF2B5EF4-FFF2-40B4-BE49-F238E27FC236}">
                <a16:creationId xmlns:a16="http://schemas.microsoft.com/office/drawing/2014/main" id="{B64E1DF9-BC66-438F-B474-96E1C5059968}"/>
              </a:ext>
            </a:extLst>
          </p:cNvPr>
          <p:cNvGraphicFramePr/>
          <p:nvPr/>
        </p:nvGraphicFramePr>
        <p:xfrm>
          <a:off xmlns:a="http://schemas.openxmlformats.org/drawingml/2006/main" x="11660315" y="21145500"/>
          <a:ext xmlns:a="http://schemas.openxmlformats.org/drawingml/2006/main" cx="9292114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Id51"/>
          </a:graphicData>
        </a:graphic>
      </p:graphicFrame>
      <p:sp>
        <p:nvSpPr>
          <p:cNvPr id="52" name="Poster_FlowStep_1">
            <a:extLst xmlns:a="http://schemas.openxmlformats.org/drawingml/2006/main">
              <a:ext uri="{FF2B5EF4-FFF2-40B4-BE49-F238E27FC236}">
                <a16:creationId xmlns:a16="http://schemas.microsoft.com/office/drawing/2014/main" id="{35395D60-528F-45B1-AE6E-5C4C98D50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11744325"/>
            <a:ext cx="76200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2236">
                <a:solidFill>
                  <a:srgbClr val="000000"/>
                </a:solidFill>
              </a:defRPr>
            </a:defPPr>
            <a:lvl1pPr algn="ctr">
              <a:defRPr sz="2236">
                <a:solidFill>
                  <a:srgbClr val="000000"/>
                </a:solidFill>
              </a:defRPr>
            </a:lvl1pPr>
            <a:lvl2pPr algn="ctr">
              <a:defRPr sz="2236">
                <a:solidFill>
                  <a:srgbClr val="000000"/>
                </a:solidFill>
              </a:defRPr>
            </a:lvl2pPr>
            <a:lvl3pPr algn="ctr">
              <a:defRPr sz="2236">
                <a:solidFill>
                  <a:srgbClr val="000000"/>
                </a:solidFill>
              </a:defRPr>
            </a:lvl3pPr>
            <a:lvl4pPr algn="ctr">
              <a:defRPr sz="2236">
                <a:solidFill>
                  <a:srgbClr val="000000"/>
                </a:solidFill>
              </a:defRPr>
            </a:lvl4pPr>
            <a:lvl5pPr algn="ctr">
              <a:defRPr sz="2236">
                <a:solidFill>
                  <a:srgbClr val="000000"/>
                </a:solidFill>
              </a:defRPr>
            </a:lvl5pPr>
            <a:lvl6pPr algn="ctr">
              <a:defRPr sz="2236">
                <a:solidFill>
                  <a:srgbClr val="000000"/>
                </a:solidFill>
              </a:defRPr>
            </a:lvl6pPr>
            <a:lvl7pPr algn="ctr">
              <a:defRPr sz="2236">
                <a:solidFill>
                  <a:srgbClr val="000000"/>
                </a:solidFill>
              </a:defRPr>
            </a:lvl7pPr>
            <a:lvl8pPr algn="ctr">
              <a:defRPr sz="2236">
                <a:solidFill>
                  <a:srgbClr val="000000"/>
                </a:solidFill>
              </a:defRPr>
            </a:lvl8pPr>
            <a:lvl9pPr algn="ctr">
              <a:defRPr sz="2236">
                <a:solidFill>
                  <a:srgbClr val="000000"/>
                </a:solidFill>
              </a:defRPr>
            </a:lvl9pPr>
          </a:lstStyle>
          <a:p xmlns:a="http://schemas.openxmlformats.org/drawingml/2006/main">
            <a:pPr algn="ctr">
              <a:defRPr sz="2236">
                <a:solidFill>
                  <a:srgbClr val="000000"/>
                </a:solidFill>
              </a:defRPr>
            </a:pPr>
            <a:r>
              <a:rPr sz="2236">
                <a:solidFill>
                  <a:srgbClr val="000000"/>
                </a:solidFill>
              </a:rPr>
              <a:t>Dados e retorno da carteira</a:t>
            </a:r>
          </a:p>
        </p:txBody>
      </p:sp>
      <p:sp>
        <p:nvSpPr>
          <p:cNvPr id="53" name="Poster_FlowArrow_1">
            <a:extLst xmlns:a="http://schemas.openxmlformats.org/drawingml/2006/main">
              <a:ext uri="{FF2B5EF4-FFF2-40B4-BE49-F238E27FC236}">
                <a16:creationId xmlns:a16="http://schemas.microsoft.com/office/drawing/2014/main" id="{66127A0C-BF55-44E0-A1BC-9169BA15D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06775" y="12192000"/>
            <a:ext cx="171450" cy="952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54" name="Poster_FlowStep_2">
            <a:extLst xmlns:a="http://schemas.openxmlformats.org/drawingml/2006/main">
              <a:ext uri="{FF2B5EF4-FFF2-40B4-BE49-F238E27FC236}">
                <a16:creationId xmlns:a16="http://schemas.microsoft.com/office/drawing/2014/main" id="{2B755C0A-9415-42BE-95D4-D83B91DE1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12306300"/>
            <a:ext cx="76200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2236">
                <a:solidFill>
                  <a:srgbClr val="000000"/>
                </a:solidFill>
              </a:defRPr>
            </a:defPPr>
            <a:lvl1pPr algn="ctr">
              <a:defRPr sz="2236">
                <a:solidFill>
                  <a:srgbClr val="000000"/>
                </a:solidFill>
              </a:defRPr>
            </a:lvl1pPr>
            <a:lvl2pPr algn="ctr">
              <a:defRPr sz="2236">
                <a:solidFill>
                  <a:srgbClr val="000000"/>
                </a:solidFill>
              </a:defRPr>
            </a:lvl2pPr>
            <a:lvl3pPr algn="ctr">
              <a:defRPr sz="2236">
                <a:solidFill>
                  <a:srgbClr val="000000"/>
                </a:solidFill>
              </a:defRPr>
            </a:lvl3pPr>
            <a:lvl4pPr algn="ctr">
              <a:defRPr sz="2236">
                <a:solidFill>
                  <a:srgbClr val="000000"/>
                </a:solidFill>
              </a:defRPr>
            </a:lvl4pPr>
            <a:lvl5pPr algn="ctr">
              <a:defRPr sz="2236">
                <a:solidFill>
                  <a:srgbClr val="000000"/>
                </a:solidFill>
              </a:defRPr>
            </a:lvl5pPr>
            <a:lvl6pPr algn="ctr">
              <a:defRPr sz="2236">
                <a:solidFill>
                  <a:srgbClr val="000000"/>
                </a:solidFill>
              </a:defRPr>
            </a:lvl6pPr>
            <a:lvl7pPr algn="ctr">
              <a:defRPr sz="2236">
                <a:solidFill>
                  <a:srgbClr val="000000"/>
                </a:solidFill>
              </a:defRPr>
            </a:lvl7pPr>
            <a:lvl8pPr algn="ctr">
              <a:defRPr sz="2236">
                <a:solidFill>
                  <a:srgbClr val="000000"/>
                </a:solidFill>
              </a:defRPr>
            </a:lvl8pPr>
            <a:lvl9pPr algn="ctr">
              <a:defRPr sz="2236">
                <a:solidFill>
                  <a:srgbClr val="000000"/>
                </a:solidFill>
              </a:defRPr>
            </a:lvl9pPr>
          </a:lstStyle>
          <a:p xmlns:a="http://schemas.openxmlformats.org/drawingml/2006/main">
            <a:pPr algn="ctr">
              <a:defRPr sz="2236">
                <a:solidFill>
                  <a:srgbClr val="000000"/>
                </a:solidFill>
              </a:defRPr>
            </a:pPr>
            <a:r>
              <a:rPr sz="2236">
                <a:solidFill>
                  <a:srgbClr val="000000"/>
                </a:solidFill>
              </a:rPr>
              <a:t>Treino, seleção e validação</a:t>
            </a:r>
          </a:p>
        </p:txBody>
      </p:sp>
      <p:sp>
        <p:nvSpPr>
          <p:cNvPr id="55" name="Poster_FlowArrow_2">
            <a:extLst xmlns:a="http://schemas.openxmlformats.org/drawingml/2006/main">
              <a:ext uri="{FF2B5EF4-FFF2-40B4-BE49-F238E27FC236}">
                <a16:creationId xmlns:a16="http://schemas.microsoft.com/office/drawing/2014/main" id="{131C7DF8-B522-4B46-A081-E802F3B9F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06775" y="12753975"/>
            <a:ext cx="171450" cy="952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56" name="Poster_FlowStep_3">
            <a:extLst xmlns:a="http://schemas.openxmlformats.org/drawingml/2006/main">
              <a:ext uri="{FF2B5EF4-FFF2-40B4-BE49-F238E27FC236}">
                <a16:creationId xmlns:a16="http://schemas.microsoft.com/office/drawing/2014/main" id="{C49BFD21-1B67-4A8B-8E7B-C4F7590DB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12868275"/>
            <a:ext cx="76200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2236">
                <a:solidFill>
                  <a:srgbClr val="000000"/>
                </a:solidFill>
              </a:defRPr>
            </a:defPPr>
            <a:lvl1pPr algn="ctr">
              <a:defRPr sz="2236">
                <a:solidFill>
                  <a:srgbClr val="000000"/>
                </a:solidFill>
              </a:defRPr>
            </a:lvl1pPr>
            <a:lvl2pPr algn="ctr">
              <a:defRPr sz="2236">
                <a:solidFill>
                  <a:srgbClr val="000000"/>
                </a:solidFill>
              </a:defRPr>
            </a:lvl2pPr>
            <a:lvl3pPr algn="ctr">
              <a:defRPr sz="2236">
                <a:solidFill>
                  <a:srgbClr val="000000"/>
                </a:solidFill>
              </a:defRPr>
            </a:lvl3pPr>
            <a:lvl4pPr algn="ctr">
              <a:defRPr sz="2236">
                <a:solidFill>
                  <a:srgbClr val="000000"/>
                </a:solidFill>
              </a:defRPr>
            </a:lvl4pPr>
            <a:lvl5pPr algn="ctr">
              <a:defRPr sz="2236">
                <a:solidFill>
                  <a:srgbClr val="000000"/>
                </a:solidFill>
              </a:defRPr>
            </a:lvl5pPr>
            <a:lvl6pPr algn="ctr">
              <a:defRPr sz="2236">
                <a:solidFill>
                  <a:srgbClr val="000000"/>
                </a:solidFill>
              </a:defRPr>
            </a:lvl6pPr>
            <a:lvl7pPr algn="ctr">
              <a:defRPr sz="2236">
                <a:solidFill>
                  <a:srgbClr val="000000"/>
                </a:solidFill>
              </a:defRPr>
            </a:lvl7pPr>
            <a:lvl8pPr algn="ctr">
              <a:defRPr sz="2236">
                <a:solidFill>
                  <a:srgbClr val="000000"/>
                </a:solidFill>
              </a:defRPr>
            </a:lvl8pPr>
            <a:lvl9pPr algn="ctr">
              <a:defRPr sz="2236">
                <a:solidFill>
                  <a:srgbClr val="000000"/>
                </a:solidFill>
              </a:defRPr>
            </a:lvl9pPr>
          </a:lstStyle>
          <a:p xmlns:a="http://schemas.openxmlformats.org/drawingml/2006/main">
            <a:pPr algn="ctr">
              <a:defRPr sz="2236">
                <a:solidFill>
                  <a:srgbClr val="000000"/>
                </a:solidFill>
              </a:defRPr>
            </a:pPr>
            <a:r>
              <a:rPr sz="2236">
                <a:solidFill>
                  <a:srgbClr val="000000"/>
                </a:solidFill>
              </a:rPr>
              <a:t>HMM: regime na origem</a:t>
            </a:r>
          </a:p>
        </p:txBody>
      </p:sp>
      <p:sp>
        <p:nvSpPr>
          <p:cNvPr id="57" name="Poster_FlowArrow_3">
            <a:extLst xmlns:a="http://schemas.openxmlformats.org/drawingml/2006/main">
              <a:ext uri="{FF2B5EF4-FFF2-40B4-BE49-F238E27FC236}">
                <a16:creationId xmlns:a16="http://schemas.microsoft.com/office/drawing/2014/main" id="{1E2D72BF-04CF-41F0-8D89-569B521EB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06775" y="13315950"/>
            <a:ext cx="171450" cy="952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58" name="Poster_FlowStep_4">
            <a:extLst xmlns:a="http://schemas.openxmlformats.org/drawingml/2006/main">
              <a:ext uri="{FF2B5EF4-FFF2-40B4-BE49-F238E27FC236}">
                <a16:creationId xmlns:a16="http://schemas.microsoft.com/office/drawing/2014/main" id="{6C98A28C-43CF-4320-BA7C-4B5CC3C71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13430250"/>
            <a:ext cx="76200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2236">
                <a:solidFill>
                  <a:srgbClr val="000000"/>
                </a:solidFill>
              </a:defRPr>
            </a:defPPr>
            <a:lvl1pPr algn="ctr">
              <a:defRPr sz="2236">
                <a:solidFill>
                  <a:srgbClr val="000000"/>
                </a:solidFill>
              </a:defRPr>
            </a:lvl1pPr>
            <a:lvl2pPr algn="ctr">
              <a:defRPr sz="2236">
                <a:solidFill>
                  <a:srgbClr val="000000"/>
                </a:solidFill>
              </a:defRPr>
            </a:lvl2pPr>
            <a:lvl3pPr algn="ctr">
              <a:defRPr sz="2236">
                <a:solidFill>
                  <a:srgbClr val="000000"/>
                </a:solidFill>
              </a:defRPr>
            </a:lvl3pPr>
            <a:lvl4pPr algn="ctr">
              <a:defRPr sz="2236">
                <a:solidFill>
                  <a:srgbClr val="000000"/>
                </a:solidFill>
              </a:defRPr>
            </a:lvl4pPr>
            <a:lvl5pPr algn="ctr">
              <a:defRPr sz="2236">
                <a:solidFill>
                  <a:srgbClr val="000000"/>
                </a:solidFill>
              </a:defRPr>
            </a:lvl5pPr>
            <a:lvl6pPr algn="ctr">
              <a:defRPr sz="2236">
                <a:solidFill>
                  <a:srgbClr val="000000"/>
                </a:solidFill>
              </a:defRPr>
            </a:lvl6pPr>
            <a:lvl7pPr algn="ctr">
              <a:defRPr sz="2236">
                <a:solidFill>
                  <a:srgbClr val="000000"/>
                </a:solidFill>
              </a:defRPr>
            </a:lvl7pPr>
            <a:lvl8pPr algn="ctr">
              <a:defRPr sz="2236">
                <a:solidFill>
                  <a:srgbClr val="000000"/>
                </a:solidFill>
              </a:defRPr>
            </a:lvl8pPr>
            <a:lvl9pPr algn="ctr">
              <a:defRPr sz="2236">
                <a:solidFill>
                  <a:srgbClr val="000000"/>
                </a:solidFill>
              </a:defRPr>
            </a:lvl9pPr>
          </a:lstStyle>
          <a:p xmlns:a="http://schemas.openxmlformats.org/drawingml/2006/main">
            <a:pPr algn="ctr">
              <a:defRPr sz="2236">
                <a:solidFill>
                  <a:srgbClr val="000000"/>
                </a:solidFill>
              </a:defRPr>
            </a:pPr>
            <a:r>
              <a:rPr sz="2236">
                <a:solidFill>
                  <a:srgbClr val="000000"/>
                </a:solidFill>
              </a:rPr>
              <a:t>LSTM: retorno do próximo pregão</a:t>
            </a:r>
          </a:p>
        </p:txBody>
      </p:sp>
      <p:sp>
        <p:nvSpPr>
          <p:cNvPr id="59" name="Poster_FlowArrow_4">
            <a:extLst xmlns:a="http://schemas.openxmlformats.org/drawingml/2006/main">
              <a:ext uri="{FF2B5EF4-FFF2-40B4-BE49-F238E27FC236}">
                <a16:creationId xmlns:a16="http://schemas.microsoft.com/office/drawing/2014/main" id="{28855564-8089-4ED9-80FB-014C50958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06775" y="13877925"/>
            <a:ext cx="171450" cy="952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60" name="Poster_FlowStep_5">
            <a:extLst xmlns:a="http://schemas.openxmlformats.org/drawingml/2006/main">
              <a:ext uri="{FF2B5EF4-FFF2-40B4-BE49-F238E27FC236}">
                <a16:creationId xmlns:a16="http://schemas.microsoft.com/office/drawing/2014/main" id="{3550B624-F1A0-4299-B65E-F8D6D5BE3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13992225"/>
            <a:ext cx="76200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2236">
                <a:solidFill>
                  <a:srgbClr val="000000"/>
                </a:solidFill>
              </a:defRPr>
            </a:defPPr>
            <a:lvl1pPr algn="ctr">
              <a:defRPr sz="2236">
                <a:solidFill>
                  <a:srgbClr val="000000"/>
                </a:solidFill>
              </a:defRPr>
            </a:lvl1pPr>
            <a:lvl2pPr algn="ctr">
              <a:defRPr sz="2236">
                <a:solidFill>
                  <a:srgbClr val="000000"/>
                </a:solidFill>
              </a:defRPr>
            </a:lvl2pPr>
            <a:lvl3pPr algn="ctr">
              <a:defRPr sz="2236">
                <a:solidFill>
                  <a:srgbClr val="000000"/>
                </a:solidFill>
              </a:defRPr>
            </a:lvl3pPr>
            <a:lvl4pPr algn="ctr">
              <a:defRPr sz="2236">
                <a:solidFill>
                  <a:srgbClr val="000000"/>
                </a:solidFill>
              </a:defRPr>
            </a:lvl4pPr>
            <a:lvl5pPr algn="ctr">
              <a:defRPr sz="2236">
                <a:solidFill>
                  <a:srgbClr val="000000"/>
                </a:solidFill>
              </a:defRPr>
            </a:lvl5pPr>
            <a:lvl6pPr algn="ctr">
              <a:defRPr sz="2236">
                <a:solidFill>
                  <a:srgbClr val="000000"/>
                </a:solidFill>
              </a:defRPr>
            </a:lvl6pPr>
            <a:lvl7pPr algn="ctr">
              <a:defRPr sz="2236">
                <a:solidFill>
                  <a:srgbClr val="000000"/>
                </a:solidFill>
              </a:defRPr>
            </a:lvl7pPr>
            <a:lvl8pPr algn="ctr">
              <a:defRPr sz="2236">
                <a:solidFill>
                  <a:srgbClr val="000000"/>
                </a:solidFill>
              </a:defRPr>
            </a:lvl8pPr>
            <a:lvl9pPr algn="ctr">
              <a:defRPr sz="2236">
                <a:solidFill>
                  <a:srgbClr val="000000"/>
                </a:solidFill>
              </a:defRPr>
            </a:lvl9pPr>
          </a:lstStyle>
          <a:p xmlns:a="http://schemas.openxmlformats.org/drawingml/2006/main">
            <a:pPr algn="ctr">
              <a:defRPr sz="2236">
                <a:solidFill>
                  <a:srgbClr val="000000"/>
                </a:solidFill>
              </a:defRPr>
            </a:pPr>
            <a:r>
              <a:rPr sz="2236">
                <a:solidFill>
                  <a:srgbClr val="000000"/>
                </a:solidFill>
              </a:rPr>
              <a:t>Calibração anterior ao teste</a:t>
            </a:r>
          </a:p>
        </p:txBody>
      </p:sp>
      <p:sp>
        <p:nvSpPr>
          <p:cNvPr id="61" name="Poster_FlowArrow_5">
            <a:extLst xmlns:a="http://schemas.openxmlformats.org/drawingml/2006/main">
              <a:ext uri="{FF2B5EF4-FFF2-40B4-BE49-F238E27FC236}">
                <a16:creationId xmlns:a16="http://schemas.microsoft.com/office/drawing/2014/main" id="{067FEA86-C7C3-40E0-986C-534D4EA37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06775" y="14439900"/>
            <a:ext cx="171450" cy="952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62" name="Poster_FlowStep_6">
            <a:extLst xmlns:a="http://schemas.openxmlformats.org/drawingml/2006/main">
              <a:ext uri="{FF2B5EF4-FFF2-40B4-BE49-F238E27FC236}">
                <a16:creationId xmlns:a16="http://schemas.microsoft.com/office/drawing/2014/main" id="{907FED75-4EE3-4386-8ABB-DAED0EEEF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14554200"/>
            <a:ext cx="76200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2236">
                <a:solidFill>
                  <a:srgbClr val="000000"/>
                </a:solidFill>
              </a:defRPr>
            </a:defPPr>
            <a:lvl1pPr algn="ctr">
              <a:defRPr sz="2236">
                <a:solidFill>
                  <a:srgbClr val="000000"/>
                </a:solidFill>
              </a:defRPr>
            </a:lvl1pPr>
            <a:lvl2pPr algn="ctr">
              <a:defRPr sz="2236">
                <a:solidFill>
                  <a:srgbClr val="000000"/>
                </a:solidFill>
              </a:defRPr>
            </a:lvl2pPr>
            <a:lvl3pPr algn="ctr">
              <a:defRPr sz="2236">
                <a:solidFill>
                  <a:srgbClr val="000000"/>
                </a:solidFill>
              </a:defRPr>
            </a:lvl3pPr>
            <a:lvl4pPr algn="ctr">
              <a:defRPr sz="2236">
                <a:solidFill>
                  <a:srgbClr val="000000"/>
                </a:solidFill>
              </a:defRPr>
            </a:lvl4pPr>
            <a:lvl5pPr algn="ctr">
              <a:defRPr sz="2236">
                <a:solidFill>
                  <a:srgbClr val="000000"/>
                </a:solidFill>
              </a:defRPr>
            </a:lvl5pPr>
            <a:lvl6pPr algn="ctr">
              <a:defRPr sz="2236">
                <a:solidFill>
                  <a:srgbClr val="000000"/>
                </a:solidFill>
              </a:defRPr>
            </a:lvl6pPr>
            <a:lvl7pPr algn="ctr">
              <a:defRPr sz="2236">
                <a:solidFill>
                  <a:srgbClr val="000000"/>
                </a:solidFill>
              </a:defRPr>
            </a:lvl7pPr>
            <a:lvl8pPr algn="ctr">
              <a:defRPr sz="2236">
                <a:solidFill>
                  <a:srgbClr val="000000"/>
                </a:solidFill>
              </a:defRPr>
            </a:lvl8pPr>
            <a:lvl9pPr algn="ctr">
              <a:defRPr sz="2236">
                <a:solidFill>
                  <a:srgbClr val="000000"/>
                </a:solidFill>
              </a:defRPr>
            </a:lvl9pPr>
          </a:lstStyle>
          <a:p xmlns:a="http://schemas.openxmlformats.org/drawingml/2006/main">
            <a:pPr algn="ctr">
              <a:defRPr sz="2236">
                <a:solidFill>
                  <a:srgbClr val="000000"/>
                </a:solidFill>
              </a:defRPr>
            </a:pPr>
            <a:r>
              <a:rPr sz="2236">
                <a:solidFill>
                  <a:srgbClr val="000000"/>
                </a:solidFill>
              </a:rPr>
              <a:t>VaR e ES fora da amostra</a:t>
            </a:r>
          </a:p>
        </p:txBody>
      </p:sp>
    </p:spTree>
    <p:extLst>
      <p:ext uri="{BB962C8B-B14F-4D97-AF65-F5344CB8AC3E}">
        <p14:creationId xmlns:p14="http://schemas.microsoft.com/office/powerpoint/2010/main" val="313329713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283</TotalTime>
  <Words>530</Words>
  <Application>Microsoft Office PowerPoint</Application>
  <PresentationFormat>Personalizar</PresentationFormat>
  <Paragraphs>44</Paragraphs>
  <Slides>1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Segoe UI Variable Display</vt:lpstr>
      <vt:lpstr>system-ui</vt:lpstr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Everton Bonturim</dc:creator>
  <cp:lastModifiedBy>ROBERTA NUNES ATTILI FRANZIN</cp:lastModifiedBy>
  <cp:revision>12</cp:revision>
  <cp:lastPrinted>2023-10-26T20:06:09Z</cp:lastPrinted>
  <dcterms:created xsi:type="dcterms:W3CDTF">2022-08-27T06:18:34Z</dcterms:created>
  <dcterms:modified xsi:type="dcterms:W3CDTF">2026-08-12T19:57:46Z</dcterms:modified>
</cp:coreProperties>
</file>